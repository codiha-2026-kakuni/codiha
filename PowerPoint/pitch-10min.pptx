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チーム名と作ったものを一文で。「千葉市のごみを調べて、小型家電なら回収場所まで案内するアプリです」。数字3つ（2,058品目・89品目・30施設）は規模の説明なので、指差す程度で次へ。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自分がモバイルバッテリーを捨てようとしたときの実体験として話す。4ステップを順に指でたどり、最後の一文「4回も調べ直すのが面倒で、結局不燃ごみに入れてしまう」で課題を締める。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上段は前スライドの4ステップと対応していることを明言する。下段3つは設計方針。「迷わせない・断定しない・持たない」の3語だけ覚えてもらうつもりで話す。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ここから実機デモに切り替えてもよい箇所。「すまほ」と平仮名で打っても『スマートフォン』が出る、を実際に見せるのが一番速い。表記ゆれ吸収の実装（正規化3段）は一言で流す。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全品目に地図を出すのではない」が要点。2,058品目のうち回収区分が付いているのは89品目だけで、そこだけ位置情報を使う、と数字で言う。空欄の扱い（注意事項を出さない）は品質面の工夫として一言添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デモの山場。実機なら位置情報を許可して、距離が付いて並び替わるところまで見せる。直線距離であること（道路距離ではない）は必ず口頭で断る。最後に「経路はGoogleマップに渡す」で締める。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審査員が自分で動かす前提の説明。「Docker Desktopがあれば1コマンド、初期データも自動で入ります」。矢印の向き（ブラウザ→Web→DB）をなぞりながら、地図だけは外部から読むのでネット接続が必要、と補足する。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短く。「ごみの品目名は正式名称を知らないことが多い」を前置きにして、右の表を2つだけ読み上げる。時間が押していたらこのページは30秒で切り上げてよい。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プライバシーの話。「保存しない」は仕様として実装で担保していると言い切る。位置情報を断っても使える点は、審査で効くので必ず触れる。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／「オフラインや通信失敗は普通に起きる」前提で作った、という話。3枚のカードを順に読むだけでよい。state付きURLは、審査員がその場で壊れた状態を確認できる仕組みとして紹介する。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出典は「全部千葉市の公開情報です」と一言で。右側は、できないことを先に言っておくためのページ。特に営業時間の自動判定をしていない点は質疑で必ず聞かれるので先に潰す。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最後は見出しの一文だけ読んで終える。時間が余っていれば「次にやること」を1つ具体的に足す。デモ機がある場合は、この画面のまま質疑に入る。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392C"/>
        </a:solidFill>
      </p:bgPr>
    </p:bg>
    <p:spTree>
      <p:nvGrpSpPr>
        <p:cNvPr id="1" name=""/>
        <p:cNvGrpSpPr/>
        <p:nvPr/>
      </p:nvGrpSpPr>
      <p:grpSpPr>
        <a:xfrm>
          <a:off x="0" y="0"/>
          <a:ext cx="0" cy="0"/>
          <a:chOff x="0" y="0"/>
          <a:chExt cx="0" cy="0"/>
        </a:xfrm>
      </p:grpSpPr>
      <p:sp>
        <p:nvSpPr>
          <p:cNvPr id="3" name="Text 0"/>
          <p:cNvSpPr txBox="1"/>
          <p:nvPr/>
        </p:nvSpPr>
        <p:spPr>
          <a:xfrm>
            <a:off x="566928" y="658368"/>
            <a:ext cx="8229600" cy="274320"/>
          </a:xfrm>
          <a:prstGeom prst="rect">
            <a:avLst/>
          </a:prstGeom>
          <a:noFill/>
          <a:ln/>
        </p:spPr>
        <p:txBody>
          <a:bodyPr wrap="square" lIns="0" tIns="0" rIns="0" bIns="0" rtlCol="0" anchor="ctr"/>
          <a:lstStyle/>
          <a:p>
            <a:pPr indent="0" marL="0">
              <a:buNone/>
            </a:pPr>
            <a:r>
              <a:rPr lang="en-US" sz="1300" b="1" spc="100" kern="0" dirty="0">
                <a:solidFill>
                  <a:srgbClr val="E3A93B"/>
                </a:solidFill>
                <a:latin typeface="Meiryo" pitchFamily="34" charset="0"/>
                <a:ea typeface="Meiryo" pitchFamily="34" charset="-122"/>
                <a:cs typeface="Meiryo" pitchFamily="34" charset="-120"/>
              </a:rPr>
              <a:t>CODIHA（コディハ）／ 千葉市 ごみ分別・持込ナビ</a:t>
            </a:r>
            <a:endParaRPr lang="en-US" sz="1300" dirty="0"/>
          </a:p>
        </p:txBody>
      </p:sp>
      <p:sp>
        <p:nvSpPr>
          <p:cNvPr id="4" name="Text 1"/>
          <p:cNvSpPr txBox="1"/>
          <p:nvPr/>
        </p:nvSpPr>
        <p:spPr>
          <a:xfrm>
            <a:off x="566928" y="1234440"/>
            <a:ext cx="10515600" cy="1828800"/>
          </a:xfrm>
          <a:prstGeom prst="rect">
            <a:avLst/>
          </a:prstGeom>
          <a:noFill/>
          <a:ln/>
        </p:spPr>
        <p:txBody>
          <a:bodyPr wrap="square" lIns="0" tIns="0" rIns="0" bIns="0" rtlCol="0" anchor="ctr"/>
          <a:lstStyle/>
          <a:p>
            <a:pPr indent="0" marL="0">
              <a:lnSpc>
                <a:spcPts val="5200"/>
              </a:lnSpc>
              <a:buNone/>
            </a:pPr>
            <a:r>
              <a:rPr lang="en-US" sz="4000" b="1" dirty="0">
                <a:solidFill>
                  <a:srgbClr val="FFFFFF"/>
                </a:solidFill>
                <a:latin typeface="Meiryo" pitchFamily="34" charset="0"/>
                <a:ea typeface="Meiryo" pitchFamily="34" charset="-122"/>
                <a:cs typeface="Meiryo" pitchFamily="34" charset="-120"/>
              </a:rPr>
              <a:t>ごみの「調べる」と「持っていく」を、</a:t>
            </a:r>
            <a:endParaRPr lang="en-US" sz="4000" dirty="0"/>
          </a:p>
          <a:p>
            <a:pPr indent="0" marL="0">
              <a:lnSpc>
                <a:spcPts val="5200"/>
              </a:lnSpc>
              <a:buNone/>
            </a:pPr>
            <a:r>
              <a:rPr lang="en-US" sz="4000" b="1" dirty="0">
                <a:solidFill>
                  <a:srgbClr val="FFFFFF"/>
                </a:solidFill>
                <a:latin typeface="Meiryo" pitchFamily="34" charset="0"/>
                <a:ea typeface="Meiryo" pitchFamily="34" charset="-122"/>
                <a:cs typeface="Meiryo" pitchFamily="34" charset="-120"/>
              </a:rPr>
              <a:t>ひとつの画面に。</a:t>
            </a:r>
            <a:endParaRPr lang="en-US" sz="4000" dirty="0"/>
          </a:p>
        </p:txBody>
      </p:sp>
      <p:sp>
        <p:nvSpPr>
          <p:cNvPr id="5" name="Text 2"/>
          <p:cNvSpPr txBox="1"/>
          <p:nvPr/>
        </p:nvSpPr>
        <p:spPr>
          <a:xfrm>
            <a:off x="566928" y="3154680"/>
            <a:ext cx="9509760" cy="548640"/>
          </a:xfrm>
          <a:prstGeom prst="rect">
            <a:avLst/>
          </a:prstGeom>
          <a:noFill/>
          <a:ln/>
        </p:spPr>
        <p:txBody>
          <a:bodyPr wrap="square" lIns="0" tIns="0" rIns="0" bIns="0" rtlCol="0" anchor="ctr"/>
          <a:lstStyle/>
          <a:p>
            <a:pPr indent="0" marL="0">
              <a:lnSpc>
                <a:spcPts val="2400"/>
              </a:lnSpc>
              <a:buNone/>
            </a:pPr>
            <a:r>
              <a:rPr lang="en-US" sz="1500" dirty="0">
                <a:solidFill>
                  <a:srgbClr val="A9BFAE"/>
                </a:solidFill>
                <a:latin typeface="Meiryo" pitchFamily="34" charset="0"/>
                <a:ea typeface="Meiryo" pitchFamily="34" charset="-122"/>
                <a:cs typeface="Meiryo" pitchFamily="34" charset="-120"/>
              </a:rPr>
              <a:t>千葉市のごみ品目の捨て方を調べ、小型家電はそのまま近い回収場所まで案内するWebアプリケーションです。</a:t>
            </a:r>
            <a:endParaRPr lang="en-US" sz="1500" dirty="0"/>
          </a:p>
        </p:txBody>
      </p:sp>
      <p:sp>
        <p:nvSpPr>
          <p:cNvPr id="6" name="Text 3"/>
          <p:cNvSpPr txBox="1"/>
          <p:nvPr/>
        </p:nvSpPr>
        <p:spPr>
          <a:xfrm>
            <a:off x="566928" y="3977640"/>
            <a:ext cx="3108960" cy="685800"/>
          </a:xfrm>
          <a:prstGeom prst="rect">
            <a:avLst/>
          </a:prstGeom>
          <a:noFill/>
          <a:ln/>
        </p:spPr>
        <p:txBody>
          <a:bodyPr wrap="square" lIns="0" tIns="0" rIns="0" bIns="0" rtlCol="0" anchor="ctr"/>
          <a:lstStyle/>
          <a:p>
            <a:pPr indent="0" marL="0">
              <a:buNone/>
            </a:pPr>
            <a:r>
              <a:rPr lang="en-US" sz="4000" b="1" dirty="0">
                <a:solidFill>
                  <a:srgbClr val="E3A93B"/>
                </a:solidFill>
                <a:latin typeface="Meiryo" pitchFamily="34" charset="0"/>
                <a:ea typeface="Meiryo" pitchFamily="34" charset="-122"/>
                <a:cs typeface="Meiryo" pitchFamily="34" charset="-120"/>
              </a:rPr>
              <a:t>2,058</a:t>
            </a:r>
            <a:endParaRPr lang="en-US" sz="4000" dirty="0"/>
          </a:p>
        </p:txBody>
      </p:sp>
      <p:sp>
        <p:nvSpPr>
          <p:cNvPr id="7" name="Text 4"/>
          <p:cNvSpPr txBox="1"/>
          <p:nvPr/>
        </p:nvSpPr>
        <p:spPr>
          <a:xfrm>
            <a:off x="566928" y="4709160"/>
            <a:ext cx="3108960" cy="274320"/>
          </a:xfrm>
          <a:prstGeom prst="rect">
            <a:avLst/>
          </a:prstGeom>
          <a:noFill/>
          <a:ln/>
        </p:spPr>
        <p:txBody>
          <a:bodyPr wrap="square" lIns="0" tIns="0" rIns="0" bIns="0" rtlCol="0" anchor="ctr"/>
          <a:lstStyle/>
          <a:p>
            <a:pPr indent="0" marL="0">
              <a:buNone/>
            </a:pPr>
            <a:r>
              <a:rPr lang="en-US" sz="1200" dirty="0">
                <a:solidFill>
                  <a:srgbClr val="A9BFAE"/>
                </a:solidFill>
                <a:latin typeface="Meiryo" pitchFamily="34" charset="0"/>
                <a:ea typeface="Meiryo" pitchFamily="34" charset="-122"/>
                <a:cs typeface="Meiryo" pitchFamily="34" charset="-120"/>
              </a:rPr>
              <a:t>登録品目</a:t>
            </a:r>
            <a:endParaRPr lang="en-US" sz="1200" dirty="0"/>
          </a:p>
        </p:txBody>
      </p:sp>
      <p:sp>
        <p:nvSpPr>
          <p:cNvPr id="8" name="Text 5"/>
          <p:cNvSpPr txBox="1"/>
          <p:nvPr/>
        </p:nvSpPr>
        <p:spPr>
          <a:xfrm>
            <a:off x="3950208" y="3977640"/>
            <a:ext cx="3108960" cy="685800"/>
          </a:xfrm>
          <a:prstGeom prst="rect">
            <a:avLst/>
          </a:prstGeom>
          <a:noFill/>
          <a:ln/>
        </p:spPr>
        <p:txBody>
          <a:bodyPr wrap="square" lIns="0" tIns="0" rIns="0" bIns="0" rtlCol="0" anchor="ctr"/>
          <a:lstStyle/>
          <a:p>
            <a:pPr indent="0" marL="0">
              <a:buNone/>
            </a:pPr>
            <a:r>
              <a:rPr lang="en-US" sz="4000" b="1" dirty="0">
                <a:solidFill>
                  <a:srgbClr val="E3A93B"/>
                </a:solidFill>
                <a:latin typeface="Meiryo" pitchFamily="34" charset="0"/>
                <a:ea typeface="Meiryo" pitchFamily="34" charset="-122"/>
                <a:cs typeface="Meiryo" pitchFamily="34" charset="-120"/>
              </a:rPr>
              <a:t>89</a:t>
            </a:r>
            <a:endParaRPr lang="en-US" sz="4000" dirty="0"/>
          </a:p>
        </p:txBody>
      </p:sp>
      <p:sp>
        <p:nvSpPr>
          <p:cNvPr id="9" name="Text 6"/>
          <p:cNvSpPr txBox="1"/>
          <p:nvPr/>
        </p:nvSpPr>
        <p:spPr>
          <a:xfrm>
            <a:off x="3950208" y="4709160"/>
            <a:ext cx="3108960" cy="274320"/>
          </a:xfrm>
          <a:prstGeom prst="rect">
            <a:avLst/>
          </a:prstGeom>
          <a:noFill/>
          <a:ln/>
        </p:spPr>
        <p:txBody>
          <a:bodyPr wrap="square" lIns="0" tIns="0" rIns="0" bIns="0" rtlCol="0" anchor="ctr"/>
          <a:lstStyle/>
          <a:p>
            <a:pPr indent="0" marL="0">
              <a:buNone/>
            </a:pPr>
            <a:r>
              <a:rPr lang="en-US" sz="1200" dirty="0">
                <a:solidFill>
                  <a:srgbClr val="A9BFAE"/>
                </a:solidFill>
                <a:latin typeface="Meiryo" pitchFamily="34" charset="0"/>
                <a:ea typeface="Meiryo" pitchFamily="34" charset="-122"/>
                <a:cs typeface="Meiryo" pitchFamily="34" charset="-120"/>
              </a:rPr>
              <a:t>小型家電の回収対象</a:t>
            </a:r>
            <a:endParaRPr lang="en-US" sz="1200" dirty="0"/>
          </a:p>
        </p:txBody>
      </p:sp>
      <p:sp>
        <p:nvSpPr>
          <p:cNvPr id="10" name="Text 7"/>
          <p:cNvSpPr txBox="1"/>
          <p:nvPr/>
        </p:nvSpPr>
        <p:spPr>
          <a:xfrm>
            <a:off x="7333488" y="3977640"/>
            <a:ext cx="3108960" cy="685800"/>
          </a:xfrm>
          <a:prstGeom prst="rect">
            <a:avLst/>
          </a:prstGeom>
          <a:noFill/>
          <a:ln/>
        </p:spPr>
        <p:txBody>
          <a:bodyPr wrap="square" lIns="0" tIns="0" rIns="0" bIns="0" rtlCol="0" anchor="ctr"/>
          <a:lstStyle/>
          <a:p>
            <a:pPr indent="0" marL="0">
              <a:buNone/>
            </a:pPr>
            <a:r>
              <a:rPr lang="en-US" sz="4000" b="1" dirty="0">
                <a:solidFill>
                  <a:srgbClr val="E3A93B"/>
                </a:solidFill>
                <a:latin typeface="Meiryo" pitchFamily="34" charset="0"/>
                <a:ea typeface="Meiryo" pitchFamily="34" charset="-122"/>
                <a:cs typeface="Meiryo" pitchFamily="34" charset="-120"/>
              </a:rPr>
              <a:t>30</a:t>
            </a:r>
            <a:endParaRPr lang="en-US" sz="4000" dirty="0"/>
          </a:p>
        </p:txBody>
      </p:sp>
      <p:sp>
        <p:nvSpPr>
          <p:cNvPr id="11" name="Text 8"/>
          <p:cNvSpPr txBox="1"/>
          <p:nvPr/>
        </p:nvSpPr>
        <p:spPr>
          <a:xfrm>
            <a:off x="7333488" y="4709160"/>
            <a:ext cx="3108960" cy="274320"/>
          </a:xfrm>
          <a:prstGeom prst="rect">
            <a:avLst/>
          </a:prstGeom>
          <a:noFill/>
          <a:ln/>
        </p:spPr>
        <p:txBody>
          <a:bodyPr wrap="square" lIns="0" tIns="0" rIns="0" bIns="0" rtlCol="0" anchor="ctr"/>
          <a:lstStyle/>
          <a:p>
            <a:pPr indent="0" marL="0">
              <a:buNone/>
            </a:pPr>
            <a:r>
              <a:rPr lang="en-US" sz="1200" dirty="0">
                <a:solidFill>
                  <a:srgbClr val="A9BFAE"/>
                </a:solidFill>
                <a:latin typeface="Meiryo" pitchFamily="34" charset="0"/>
                <a:ea typeface="Meiryo" pitchFamily="34" charset="-122"/>
                <a:cs typeface="Meiryo" pitchFamily="34" charset="-120"/>
              </a:rPr>
              <a:t>回収施設</a:t>
            </a:r>
            <a:endParaRPr lang="en-US" sz="1200" dirty="0"/>
          </a:p>
        </p:txBody>
      </p:sp>
      <p:sp>
        <p:nvSpPr>
          <p:cNvPr id="12" name="Text 9"/>
          <p:cNvSpPr txBox="1"/>
          <p:nvPr/>
        </p:nvSpPr>
        <p:spPr>
          <a:xfrm>
            <a:off x="566928" y="5806440"/>
            <a:ext cx="7315200" cy="274320"/>
          </a:xfrm>
          <a:prstGeom prst="rect">
            <a:avLst/>
          </a:prstGeom>
          <a:noFill/>
          <a:ln/>
        </p:spPr>
        <p:txBody>
          <a:bodyPr wrap="square" lIns="0" tIns="0" rIns="0" bIns="0" rtlCol="0" anchor="ctr"/>
          <a:lstStyle/>
          <a:p>
            <a:pPr indent="0" marL="0">
              <a:buNone/>
            </a:pPr>
            <a:r>
              <a:rPr lang="en-US" sz="1300" dirty="0">
                <a:solidFill>
                  <a:srgbClr val="E9F0E9"/>
                </a:solidFill>
                <a:latin typeface="Meiryo" pitchFamily="34" charset="0"/>
                <a:ea typeface="Meiryo" pitchFamily="34" charset="-122"/>
                <a:cs typeface="Meiryo" pitchFamily="34" charset="-120"/>
              </a:rPr>
              <a:t>チーム角煮　大久保壮葵・大菅海兎・梅澤颯太・薄井悠希</a:t>
            </a:r>
            <a:endParaRPr lang="en-US" sz="1300" dirty="0"/>
          </a:p>
        </p:txBody>
      </p:sp>
      <p:sp>
        <p:nvSpPr>
          <p:cNvPr id="13" name="Text 10"/>
          <p:cNvSpPr txBox="1"/>
          <p:nvPr/>
        </p:nvSpPr>
        <p:spPr>
          <a:xfrm>
            <a:off x="7418527" y="5806440"/>
            <a:ext cx="4206240" cy="274320"/>
          </a:xfrm>
          <a:prstGeom prst="rect">
            <a:avLst/>
          </a:prstGeom>
          <a:noFill/>
          <a:ln/>
        </p:spPr>
        <p:txBody>
          <a:bodyPr wrap="square" lIns="0" tIns="0" rIns="0" bIns="0" rtlCol="0" anchor="ctr"/>
          <a:lstStyle/>
          <a:p>
            <a:pPr algn="r" indent="0" marL="0">
              <a:buNone/>
            </a:pPr>
            <a:r>
              <a:rPr lang="en-US" sz="1200" dirty="0">
                <a:solidFill>
                  <a:srgbClr val="A9BFAE"/>
                </a:solidFill>
                <a:latin typeface="Meiryo" pitchFamily="34" charset="0"/>
                <a:ea typeface="Meiryo" pitchFamily="34" charset="-122"/>
                <a:cs typeface="Meiryo" pitchFamily="34" charset="-120"/>
              </a:rPr>
              <a:t>Node.js 20 / Express 5 / MySQL 8.4 / Docker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566928" y="457200"/>
            <a:ext cx="8412480" cy="274320"/>
          </a:xfrm>
          <a:prstGeom prst="rect">
            <a:avLst/>
          </a:prstGeom>
          <a:noFill/>
          <a:ln/>
        </p:spPr>
        <p:txBody>
          <a:bodyPr wrap="square" lIns="0" tIns="0" rIns="0" bIns="0" rtlCol="0" anchor="ctr"/>
          <a:lstStyle/>
          <a:p>
            <a:pPr indent="0" marL="0">
              <a:buNone/>
            </a:pPr>
            <a:r>
              <a:rPr lang="en-US" sz="1200" b="1" spc="100" kern="0" dirty="0">
                <a:solidFill>
                  <a:srgbClr val="456B52"/>
                </a:solidFill>
                <a:latin typeface="Meiryo" pitchFamily="34" charset="0"/>
                <a:ea typeface="Meiryo" pitchFamily="34" charset="-122"/>
                <a:cs typeface="Meiryo" pitchFamily="34" charset="-120"/>
              </a:rPr>
              <a:t>背景と課題</a:t>
            </a:r>
            <a:endParaRPr lang="en-US" sz="1200" dirty="0"/>
          </a:p>
        </p:txBody>
      </p:sp>
      <p:sp>
        <p:nvSpPr>
          <p:cNvPr id="4" name="Text 1"/>
          <p:cNvSpPr txBox="1"/>
          <p:nvPr/>
        </p:nvSpPr>
        <p:spPr>
          <a:xfrm>
            <a:off x="9613087" y="457200"/>
            <a:ext cx="2011680" cy="274320"/>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1:30 / 10:00</a:t>
            </a:r>
            <a:endParaRPr lang="en-US" sz="1100" dirty="0"/>
          </a:p>
        </p:txBody>
      </p:sp>
      <p:sp>
        <p:nvSpPr>
          <p:cNvPr id="5" name="Text 2"/>
          <p:cNvSpPr txBox="1"/>
          <p:nvPr/>
        </p:nvSpPr>
        <p:spPr>
          <a:xfrm>
            <a:off x="566928" y="804672"/>
            <a:ext cx="11057839" cy="685800"/>
          </a:xfrm>
          <a:prstGeom prst="rect">
            <a:avLst/>
          </a:prstGeom>
          <a:noFill/>
          <a:ln/>
        </p:spPr>
        <p:txBody>
          <a:bodyPr wrap="square" lIns="0" tIns="0" rIns="0" bIns="0" rtlCol="0" anchor="ctr"/>
          <a:lstStyle/>
          <a:p>
            <a:pPr indent="0" marL="0">
              <a:lnSpc>
                <a:spcPts val="3400"/>
              </a:lnSpc>
              <a:buNone/>
            </a:pPr>
            <a:r>
              <a:rPr lang="en-US" sz="2800" b="1" dirty="0">
                <a:solidFill>
                  <a:srgbClr val="17211A"/>
                </a:solidFill>
                <a:latin typeface="Meiryo" pitchFamily="34" charset="0"/>
                <a:ea typeface="Meiryo" pitchFamily="34" charset="-122"/>
                <a:cs typeface="Meiryo" pitchFamily="34" charset="-120"/>
              </a:rPr>
              <a:t>小型家電は、捨てるまでに4回も調べ直す</a:t>
            </a:r>
            <a:endParaRPr lang="en-US" sz="2800" dirty="0"/>
          </a:p>
        </p:txBody>
      </p:sp>
      <p:sp>
        <p:nvSpPr>
          <p:cNvPr id="6" name="Shape 3"/>
          <p:cNvSpPr/>
          <p:nvPr/>
        </p:nvSpPr>
        <p:spPr>
          <a:xfrm>
            <a:off x="566928" y="1828800"/>
            <a:ext cx="2615184" cy="1920240"/>
          </a:xfrm>
          <a:prstGeom prst="roundRect">
            <a:avLst>
              <a:gd name="adj" fmla="val 2381"/>
            </a:avLst>
          </a:prstGeom>
          <a:solidFill>
            <a:srgbClr val="F3F6F1"/>
          </a:solidFill>
          <a:ln w="12700">
            <a:solidFill>
              <a:srgbClr val="333333"/>
            </a:solidFill>
            <a:prstDash val="solid"/>
          </a:ln>
        </p:spPr>
      </p:sp>
      <p:sp>
        <p:nvSpPr>
          <p:cNvPr id="7" name="Shape 4"/>
          <p:cNvSpPr/>
          <p:nvPr/>
        </p:nvSpPr>
        <p:spPr>
          <a:xfrm>
            <a:off x="822960" y="2066544"/>
            <a:ext cx="365760" cy="365760"/>
          </a:xfrm>
          <a:prstGeom prst="roundRect">
            <a:avLst>
              <a:gd name="adj" fmla="val 87500"/>
            </a:avLst>
          </a:prstGeom>
          <a:solidFill>
            <a:srgbClr val="456B52"/>
          </a:solidFill>
          <a:ln w="12700">
            <a:solidFill>
              <a:srgbClr val="333333"/>
            </a:solidFill>
            <a:prstDash val="solid"/>
          </a:ln>
        </p:spPr>
      </p:sp>
      <p:sp>
        <p:nvSpPr>
          <p:cNvPr id="8" name="Text 5"/>
          <p:cNvSpPr txBox="1"/>
          <p:nvPr/>
        </p:nvSpPr>
        <p:spPr>
          <a:xfrm>
            <a:off x="822960" y="20665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9" name="Text 6"/>
          <p:cNvSpPr txBox="1"/>
          <p:nvPr/>
        </p:nvSpPr>
        <p:spPr>
          <a:xfrm>
            <a:off x="822960" y="2606040"/>
            <a:ext cx="2103120" cy="914400"/>
          </a:xfrm>
          <a:prstGeom prst="rect">
            <a:avLst/>
          </a:prstGeom>
          <a:noFill/>
          <a:ln/>
        </p:spPr>
        <p:txBody>
          <a:bodyPr wrap="square" lIns="0" tIns="0" rIns="0" bIns="0" rtlCol="0" anchor="ctr"/>
          <a:lstStyle/>
          <a:p>
            <a:pPr indent="0" marL="0">
              <a:lnSpc>
                <a:spcPts val="1900"/>
              </a:lnSpc>
              <a:buNone/>
            </a:pPr>
            <a:r>
              <a:rPr lang="en-US" sz="1300" dirty="0">
                <a:solidFill>
                  <a:srgbClr val="17211A"/>
                </a:solidFill>
                <a:latin typeface="Meiryo" pitchFamily="34" charset="0"/>
                <a:ea typeface="Meiryo" pitchFamily="34" charset="-122"/>
                <a:cs typeface="Meiryo" pitchFamily="34" charset="-120"/>
              </a:rPr>
              <a:t>千葉市のHPやごみ分別アプリで品目を検索する</a:t>
            </a:r>
            <a:endParaRPr lang="en-US" sz="1300" dirty="0"/>
          </a:p>
        </p:txBody>
      </p:sp>
      <p:sp>
        <p:nvSpPr>
          <p:cNvPr id="10" name="Shape 7"/>
          <p:cNvSpPr/>
          <p:nvPr/>
        </p:nvSpPr>
        <p:spPr>
          <a:xfrm>
            <a:off x="3364992" y="1828800"/>
            <a:ext cx="2615184" cy="1920240"/>
          </a:xfrm>
          <a:prstGeom prst="roundRect">
            <a:avLst>
              <a:gd name="adj" fmla="val 2381"/>
            </a:avLst>
          </a:prstGeom>
          <a:solidFill>
            <a:srgbClr val="F3F6F1"/>
          </a:solidFill>
          <a:ln w="12700">
            <a:solidFill>
              <a:srgbClr val="333333"/>
            </a:solidFill>
            <a:prstDash val="solid"/>
          </a:ln>
        </p:spPr>
      </p:sp>
      <p:sp>
        <p:nvSpPr>
          <p:cNvPr id="11" name="Shape 8"/>
          <p:cNvSpPr/>
          <p:nvPr/>
        </p:nvSpPr>
        <p:spPr>
          <a:xfrm>
            <a:off x="3621024" y="2066544"/>
            <a:ext cx="365760" cy="365760"/>
          </a:xfrm>
          <a:prstGeom prst="roundRect">
            <a:avLst>
              <a:gd name="adj" fmla="val 87500"/>
            </a:avLst>
          </a:prstGeom>
          <a:solidFill>
            <a:srgbClr val="456B52"/>
          </a:solidFill>
          <a:ln w="12700">
            <a:solidFill>
              <a:srgbClr val="333333"/>
            </a:solidFill>
            <a:prstDash val="solid"/>
          </a:ln>
        </p:spPr>
      </p:sp>
      <p:sp>
        <p:nvSpPr>
          <p:cNvPr id="12" name="Text 9"/>
          <p:cNvSpPr txBox="1"/>
          <p:nvPr/>
        </p:nvSpPr>
        <p:spPr>
          <a:xfrm>
            <a:off x="3621024" y="20665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13" name="Text 10"/>
          <p:cNvSpPr txBox="1"/>
          <p:nvPr/>
        </p:nvSpPr>
        <p:spPr>
          <a:xfrm>
            <a:off x="3621024" y="2606040"/>
            <a:ext cx="2103120" cy="914400"/>
          </a:xfrm>
          <a:prstGeom prst="rect">
            <a:avLst/>
          </a:prstGeom>
          <a:noFill/>
          <a:ln/>
        </p:spPr>
        <p:txBody>
          <a:bodyPr wrap="square" lIns="0" tIns="0" rIns="0" bIns="0" rtlCol="0" anchor="ctr"/>
          <a:lstStyle/>
          <a:p>
            <a:pPr indent="0" marL="0">
              <a:lnSpc>
                <a:spcPts val="1900"/>
              </a:lnSpc>
              <a:buNone/>
            </a:pPr>
            <a:r>
              <a:rPr lang="en-US" sz="1300" dirty="0">
                <a:solidFill>
                  <a:srgbClr val="17211A"/>
                </a:solidFill>
                <a:latin typeface="Meiryo" pitchFamily="34" charset="0"/>
                <a:ea typeface="Meiryo" pitchFamily="34" charset="-122"/>
                <a:cs typeface="Meiryo" pitchFamily="34" charset="-120"/>
              </a:rPr>
              <a:t>「回収ボックスへ持込」と書かれていて、家庭ごみに出せないと知る</a:t>
            </a:r>
            <a:endParaRPr lang="en-US" sz="1300" dirty="0"/>
          </a:p>
        </p:txBody>
      </p:sp>
      <p:sp>
        <p:nvSpPr>
          <p:cNvPr id="14" name="Shape 11"/>
          <p:cNvSpPr/>
          <p:nvPr/>
        </p:nvSpPr>
        <p:spPr>
          <a:xfrm>
            <a:off x="6163056" y="1828800"/>
            <a:ext cx="2615184" cy="1920240"/>
          </a:xfrm>
          <a:prstGeom prst="roundRect">
            <a:avLst>
              <a:gd name="adj" fmla="val 2381"/>
            </a:avLst>
          </a:prstGeom>
          <a:solidFill>
            <a:srgbClr val="F3F6F1"/>
          </a:solidFill>
          <a:ln w="12700">
            <a:solidFill>
              <a:srgbClr val="333333"/>
            </a:solidFill>
            <a:prstDash val="solid"/>
          </a:ln>
        </p:spPr>
      </p:sp>
      <p:sp>
        <p:nvSpPr>
          <p:cNvPr id="15" name="Shape 12"/>
          <p:cNvSpPr/>
          <p:nvPr/>
        </p:nvSpPr>
        <p:spPr>
          <a:xfrm>
            <a:off x="6419088" y="2066544"/>
            <a:ext cx="365760" cy="365760"/>
          </a:xfrm>
          <a:prstGeom prst="roundRect">
            <a:avLst>
              <a:gd name="adj" fmla="val 87500"/>
            </a:avLst>
          </a:prstGeom>
          <a:solidFill>
            <a:srgbClr val="456B52"/>
          </a:solidFill>
          <a:ln w="12700">
            <a:solidFill>
              <a:srgbClr val="333333"/>
            </a:solidFill>
            <a:prstDash val="solid"/>
          </a:ln>
        </p:spPr>
      </p:sp>
      <p:sp>
        <p:nvSpPr>
          <p:cNvPr id="16" name="Text 13"/>
          <p:cNvSpPr txBox="1"/>
          <p:nvPr/>
        </p:nvSpPr>
        <p:spPr>
          <a:xfrm>
            <a:off x="6419088" y="20665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17" name="Text 14"/>
          <p:cNvSpPr txBox="1"/>
          <p:nvPr/>
        </p:nvSpPr>
        <p:spPr>
          <a:xfrm>
            <a:off x="6419088" y="2606040"/>
            <a:ext cx="2103120" cy="914400"/>
          </a:xfrm>
          <a:prstGeom prst="rect">
            <a:avLst/>
          </a:prstGeom>
          <a:noFill/>
          <a:ln/>
        </p:spPr>
        <p:txBody>
          <a:bodyPr wrap="square" lIns="0" tIns="0" rIns="0" bIns="0" rtlCol="0" anchor="ctr"/>
          <a:lstStyle/>
          <a:p>
            <a:pPr indent="0" marL="0">
              <a:lnSpc>
                <a:spcPts val="1900"/>
              </a:lnSpc>
              <a:buNone/>
            </a:pPr>
            <a:r>
              <a:rPr lang="en-US" sz="1300" dirty="0">
                <a:solidFill>
                  <a:srgbClr val="17211A"/>
                </a:solidFill>
                <a:latin typeface="Meiryo" pitchFamily="34" charset="0"/>
                <a:ea typeface="Meiryo" pitchFamily="34" charset="-122"/>
                <a:cs typeface="Meiryo" pitchFamily="34" charset="-120"/>
              </a:rPr>
              <a:t>回収場所の一覧ページを開き、自分に近い施設を探す</a:t>
            </a:r>
            <a:endParaRPr lang="en-US" sz="1300" dirty="0"/>
          </a:p>
        </p:txBody>
      </p:sp>
      <p:sp>
        <p:nvSpPr>
          <p:cNvPr id="18" name="Shape 15"/>
          <p:cNvSpPr/>
          <p:nvPr/>
        </p:nvSpPr>
        <p:spPr>
          <a:xfrm>
            <a:off x="8961120" y="1828800"/>
            <a:ext cx="2615184" cy="1920240"/>
          </a:xfrm>
          <a:prstGeom prst="roundRect">
            <a:avLst>
              <a:gd name="adj" fmla="val 2381"/>
            </a:avLst>
          </a:prstGeom>
          <a:solidFill>
            <a:srgbClr val="F3F6F1"/>
          </a:solidFill>
          <a:ln w="12700">
            <a:solidFill>
              <a:srgbClr val="333333"/>
            </a:solidFill>
            <a:prstDash val="solid"/>
          </a:ln>
        </p:spPr>
      </p:sp>
      <p:sp>
        <p:nvSpPr>
          <p:cNvPr id="19" name="Shape 16"/>
          <p:cNvSpPr/>
          <p:nvPr/>
        </p:nvSpPr>
        <p:spPr>
          <a:xfrm>
            <a:off x="9217152" y="2066544"/>
            <a:ext cx="365760" cy="365760"/>
          </a:xfrm>
          <a:prstGeom prst="roundRect">
            <a:avLst>
              <a:gd name="adj" fmla="val 87500"/>
            </a:avLst>
          </a:prstGeom>
          <a:solidFill>
            <a:srgbClr val="456B52"/>
          </a:solidFill>
          <a:ln w="12700">
            <a:solidFill>
              <a:srgbClr val="333333"/>
            </a:solidFill>
            <a:prstDash val="solid"/>
          </a:ln>
        </p:spPr>
      </p:sp>
      <p:sp>
        <p:nvSpPr>
          <p:cNvPr id="20" name="Text 17"/>
          <p:cNvSpPr txBox="1"/>
          <p:nvPr/>
        </p:nvSpPr>
        <p:spPr>
          <a:xfrm>
            <a:off x="9217152" y="20665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4</a:t>
            </a:r>
            <a:endParaRPr lang="en-US" sz="1200" dirty="0"/>
          </a:p>
        </p:txBody>
      </p:sp>
      <p:sp>
        <p:nvSpPr>
          <p:cNvPr id="21" name="Text 18"/>
          <p:cNvSpPr txBox="1"/>
          <p:nvPr/>
        </p:nvSpPr>
        <p:spPr>
          <a:xfrm>
            <a:off x="9217152" y="2606040"/>
            <a:ext cx="2103120" cy="914400"/>
          </a:xfrm>
          <a:prstGeom prst="rect">
            <a:avLst/>
          </a:prstGeom>
          <a:noFill/>
          <a:ln/>
        </p:spPr>
        <p:txBody>
          <a:bodyPr wrap="square" lIns="0" tIns="0" rIns="0" bIns="0" rtlCol="0" anchor="ctr"/>
          <a:lstStyle/>
          <a:p>
            <a:pPr indent="0" marL="0">
              <a:lnSpc>
                <a:spcPts val="1900"/>
              </a:lnSpc>
              <a:buNone/>
            </a:pPr>
            <a:r>
              <a:rPr lang="en-US" sz="1300" dirty="0">
                <a:solidFill>
                  <a:srgbClr val="17211A"/>
                </a:solidFill>
                <a:latin typeface="Meiryo" pitchFamily="34" charset="0"/>
                <a:ea typeface="Meiryo" pitchFamily="34" charset="-122"/>
                <a:cs typeface="Meiryo" pitchFamily="34" charset="-120"/>
              </a:rPr>
              <a:t>住所をコピーして地図アプリに貼り、経路を調べる</a:t>
            </a:r>
            <a:endParaRPr lang="en-US" sz="1300" dirty="0"/>
          </a:p>
        </p:txBody>
      </p:sp>
      <p:sp>
        <p:nvSpPr>
          <p:cNvPr id="22" name="Shape 19"/>
          <p:cNvSpPr/>
          <p:nvPr/>
        </p:nvSpPr>
        <p:spPr>
          <a:xfrm>
            <a:off x="566928" y="4114800"/>
            <a:ext cx="11057839" cy="1051560"/>
          </a:xfrm>
          <a:prstGeom prst="roundRect">
            <a:avLst>
              <a:gd name="adj" fmla="val 4348"/>
            </a:avLst>
          </a:prstGeom>
          <a:solidFill>
            <a:srgbClr val="FBF1DA"/>
          </a:solidFill>
          <a:ln w="12700">
            <a:solidFill>
              <a:srgbClr val="333333"/>
            </a:solidFill>
            <a:prstDash val="solid"/>
          </a:ln>
        </p:spPr>
      </p:sp>
      <p:sp>
        <p:nvSpPr>
          <p:cNvPr id="23" name="Text 20"/>
          <p:cNvSpPr txBox="1"/>
          <p:nvPr/>
        </p:nvSpPr>
        <p:spPr>
          <a:xfrm>
            <a:off x="886968" y="4343400"/>
            <a:ext cx="10417759" cy="731520"/>
          </a:xfrm>
          <a:prstGeom prst="rect">
            <a:avLst/>
          </a:prstGeom>
          <a:noFill/>
          <a:ln/>
        </p:spPr>
        <p:txBody>
          <a:bodyPr wrap="square" lIns="0" tIns="0" rIns="0" bIns="0" rtlCol="0" anchor="ctr"/>
          <a:lstStyle/>
          <a:p>
            <a:pPr indent="0" marL="0">
              <a:lnSpc>
                <a:spcPts val="2200"/>
              </a:lnSpc>
              <a:buNone/>
            </a:pPr>
            <a:r>
              <a:rPr lang="en-US" sz="1400" dirty="0">
                <a:solidFill>
                  <a:srgbClr val="17211A"/>
                </a:solidFill>
                <a:latin typeface="Meiryo" pitchFamily="34" charset="0"/>
                <a:ea typeface="Meiryo" pitchFamily="34" charset="-122"/>
                <a:cs typeface="Meiryo" pitchFamily="34" charset="-120"/>
              </a:rPr>
              <a:t>情報が「分別ガイド」「回収案内」「施設一覧」「地図」に分かれているため、調べ始めてから家を出るまでに離脱しやすい。</a:t>
            </a:r>
            <a:endParaRPr lang="en-US" sz="1400" dirty="0"/>
          </a:p>
          <a:p>
            <a:pPr indent="0" marL="0">
              <a:lnSpc>
                <a:spcPts val="2200"/>
              </a:lnSpc>
              <a:buNone/>
            </a:pPr>
            <a:r>
              <a:rPr lang="en-US" sz="1400" dirty="0">
                <a:solidFill>
                  <a:srgbClr val="17211A"/>
                </a:solidFill>
                <a:latin typeface="Meiryo" pitchFamily="34" charset="0"/>
                <a:ea typeface="Meiryo" pitchFamily="34" charset="-122"/>
                <a:cs typeface="Meiryo" pitchFamily="34" charset="-120"/>
              </a:rPr>
              <a:t>結果として、小型家電が不燃ごみに混ざる。</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566928" y="457200"/>
            <a:ext cx="8412480" cy="274320"/>
          </a:xfrm>
          <a:prstGeom prst="rect">
            <a:avLst/>
          </a:prstGeom>
          <a:noFill/>
          <a:ln/>
        </p:spPr>
        <p:txBody>
          <a:bodyPr wrap="square" lIns="0" tIns="0" rIns="0" bIns="0" rtlCol="0" anchor="ctr"/>
          <a:lstStyle/>
          <a:p>
            <a:pPr indent="0" marL="0">
              <a:buNone/>
            </a:pPr>
            <a:r>
              <a:rPr lang="en-US" sz="1200" b="1" spc="100" kern="0" dirty="0">
                <a:solidFill>
                  <a:srgbClr val="456B52"/>
                </a:solidFill>
                <a:latin typeface="Meiryo" pitchFamily="34" charset="0"/>
                <a:ea typeface="Meiryo" pitchFamily="34" charset="-122"/>
                <a:cs typeface="Meiryo" pitchFamily="34" charset="-120"/>
              </a:rPr>
              <a:t>本サービスによる解決</a:t>
            </a:r>
            <a:endParaRPr lang="en-US" sz="1200" dirty="0"/>
          </a:p>
        </p:txBody>
      </p:sp>
      <p:sp>
        <p:nvSpPr>
          <p:cNvPr id="4" name="Text 1"/>
          <p:cNvSpPr txBox="1"/>
          <p:nvPr/>
        </p:nvSpPr>
        <p:spPr>
          <a:xfrm>
            <a:off x="9613087" y="457200"/>
            <a:ext cx="2011680" cy="274320"/>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2:30 / 10:00</a:t>
            </a:r>
            <a:endParaRPr lang="en-US" sz="1100" dirty="0"/>
          </a:p>
        </p:txBody>
      </p:sp>
      <p:sp>
        <p:nvSpPr>
          <p:cNvPr id="5" name="Text 2"/>
          <p:cNvSpPr txBox="1"/>
          <p:nvPr/>
        </p:nvSpPr>
        <p:spPr>
          <a:xfrm>
            <a:off x="566928" y="804672"/>
            <a:ext cx="11057839" cy="685800"/>
          </a:xfrm>
          <a:prstGeom prst="rect">
            <a:avLst/>
          </a:prstGeom>
          <a:noFill/>
          <a:ln/>
        </p:spPr>
        <p:txBody>
          <a:bodyPr wrap="square" lIns="0" tIns="0" rIns="0" bIns="0" rtlCol="0" anchor="ctr"/>
          <a:lstStyle/>
          <a:p>
            <a:pPr indent="0" marL="0">
              <a:lnSpc>
                <a:spcPts val="3400"/>
              </a:lnSpc>
              <a:buNone/>
            </a:pPr>
            <a:r>
              <a:rPr lang="en-US" sz="2800" b="1" dirty="0">
                <a:solidFill>
                  <a:srgbClr val="17211A"/>
                </a:solidFill>
                <a:latin typeface="Meiryo" pitchFamily="34" charset="0"/>
                <a:ea typeface="Meiryo" pitchFamily="34" charset="-122"/>
                <a:cs typeface="Meiryo" pitchFamily="34" charset="-120"/>
              </a:rPr>
              <a:t>CODIHAは、その4ステップを1つの流れにする</a:t>
            </a:r>
            <a:endParaRPr lang="en-US" sz="2800" dirty="0"/>
          </a:p>
        </p:txBody>
      </p:sp>
      <p:sp>
        <p:nvSpPr>
          <p:cNvPr id="6" name="Shape 3"/>
          <p:cNvSpPr/>
          <p:nvPr/>
        </p:nvSpPr>
        <p:spPr>
          <a:xfrm>
            <a:off x="566928" y="1783080"/>
            <a:ext cx="2615184" cy="1508760"/>
          </a:xfrm>
          <a:prstGeom prst="roundRect">
            <a:avLst>
              <a:gd name="adj" fmla="val 3030"/>
            </a:avLst>
          </a:prstGeom>
          <a:solidFill>
            <a:srgbClr val="E4EDE5"/>
          </a:solidFill>
          <a:ln w="12700">
            <a:solidFill>
              <a:srgbClr val="333333"/>
            </a:solidFill>
            <a:prstDash val="solid"/>
          </a:ln>
        </p:spPr>
      </p:sp>
      <p:sp>
        <p:nvSpPr>
          <p:cNvPr id="7" name="Text 4"/>
          <p:cNvSpPr txBox="1"/>
          <p:nvPr/>
        </p:nvSpPr>
        <p:spPr>
          <a:xfrm>
            <a:off x="804672" y="1993392"/>
            <a:ext cx="214884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品目を検索</a:t>
            </a:r>
            <a:endParaRPr lang="en-US" sz="1500" dirty="0"/>
          </a:p>
        </p:txBody>
      </p:sp>
      <p:sp>
        <p:nvSpPr>
          <p:cNvPr id="8" name="Text 5"/>
          <p:cNvSpPr txBox="1"/>
          <p:nvPr/>
        </p:nvSpPr>
        <p:spPr>
          <a:xfrm>
            <a:off x="804672" y="2359152"/>
            <a:ext cx="2148840" cy="777240"/>
          </a:xfrm>
          <a:prstGeom prst="rect">
            <a:avLst/>
          </a:prstGeom>
          <a:noFill/>
          <a:ln/>
        </p:spPr>
        <p:txBody>
          <a:bodyPr wrap="square" lIns="0" tIns="0" rIns="0" bIns="0" rtlCol="0" anchor="ctr"/>
          <a:lstStyle/>
          <a:p>
            <a:pPr indent="0" marL="0">
              <a:lnSpc>
                <a:spcPts val="1700"/>
              </a:lnSpc>
              <a:buNone/>
            </a:pPr>
            <a:r>
              <a:rPr lang="en-US" sz="1200" dirty="0">
                <a:solidFill>
                  <a:srgbClr val="55655A"/>
                </a:solidFill>
                <a:latin typeface="Meiryo" pitchFamily="34" charset="0"/>
                <a:ea typeface="Meiryo" pitchFamily="34" charset="-122"/>
                <a:cs typeface="Meiryo" pitchFamily="34" charset="-120"/>
              </a:rPr>
              <a:t>2,058品目から、読み仮名でも探せる</a:t>
            </a:r>
            <a:endParaRPr lang="en-US" sz="1200" dirty="0"/>
          </a:p>
        </p:txBody>
      </p:sp>
      <p:sp>
        <p:nvSpPr>
          <p:cNvPr id="9" name="Text 6"/>
          <p:cNvSpPr txBox="1"/>
          <p:nvPr/>
        </p:nvSpPr>
        <p:spPr>
          <a:xfrm>
            <a:off x="3182112" y="2377440"/>
            <a:ext cx="182880" cy="274320"/>
          </a:xfrm>
          <a:prstGeom prst="rect">
            <a:avLst/>
          </a:prstGeom>
          <a:noFill/>
          <a:ln/>
        </p:spPr>
        <p:txBody>
          <a:bodyPr wrap="square" lIns="0" tIns="0" rIns="0" bIns="0" rtlCol="0" anchor="ctr"/>
          <a:lstStyle/>
          <a:p>
            <a:pPr algn="ctr" indent="0" marL="0">
              <a:buNone/>
            </a:pPr>
            <a:r>
              <a:rPr lang="en-US" sz="1100" dirty="0">
                <a:solidFill>
                  <a:srgbClr val="456B52"/>
                </a:solidFill>
                <a:latin typeface="Meiryo" pitchFamily="34" charset="0"/>
                <a:ea typeface="Meiryo" pitchFamily="34" charset="-122"/>
                <a:cs typeface="Meiryo" pitchFamily="34" charset="-120"/>
              </a:rPr>
              <a:t>▶</a:t>
            </a:r>
            <a:endParaRPr lang="en-US" sz="1100" dirty="0"/>
          </a:p>
        </p:txBody>
      </p:sp>
      <p:sp>
        <p:nvSpPr>
          <p:cNvPr id="10" name="Shape 7"/>
          <p:cNvSpPr/>
          <p:nvPr/>
        </p:nvSpPr>
        <p:spPr>
          <a:xfrm>
            <a:off x="3364992" y="1783080"/>
            <a:ext cx="2615184" cy="1508760"/>
          </a:xfrm>
          <a:prstGeom prst="roundRect">
            <a:avLst>
              <a:gd name="adj" fmla="val 3030"/>
            </a:avLst>
          </a:prstGeom>
          <a:solidFill>
            <a:srgbClr val="E4EDE5"/>
          </a:solidFill>
          <a:ln w="12700">
            <a:solidFill>
              <a:srgbClr val="333333"/>
            </a:solidFill>
            <a:prstDash val="solid"/>
          </a:ln>
        </p:spPr>
      </p:sp>
      <p:sp>
        <p:nvSpPr>
          <p:cNvPr id="11" name="Text 8"/>
          <p:cNvSpPr txBox="1"/>
          <p:nvPr/>
        </p:nvSpPr>
        <p:spPr>
          <a:xfrm>
            <a:off x="3602736" y="1993392"/>
            <a:ext cx="214884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捨て方を表示</a:t>
            </a:r>
            <a:endParaRPr lang="en-US" sz="1500" dirty="0"/>
          </a:p>
        </p:txBody>
      </p:sp>
      <p:sp>
        <p:nvSpPr>
          <p:cNvPr id="12" name="Text 9"/>
          <p:cNvSpPr txBox="1"/>
          <p:nvPr/>
        </p:nvSpPr>
        <p:spPr>
          <a:xfrm>
            <a:off x="3602736" y="2359152"/>
            <a:ext cx="2148840" cy="777240"/>
          </a:xfrm>
          <a:prstGeom prst="rect">
            <a:avLst/>
          </a:prstGeom>
          <a:noFill/>
          <a:ln/>
        </p:spPr>
        <p:txBody>
          <a:bodyPr wrap="square" lIns="0" tIns="0" rIns="0" bIns="0" rtlCol="0" anchor="ctr"/>
          <a:lstStyle/>
          <a:p>
            <a:pPr indent="0" marL="0">
              <a:lnSpc>
                <a:spcPts val="1700"/>
              </a:lnSpc>
              <a:buNone/>
            </a:pPr>
            <a:r>
              <a:rPr lang="en-US" sz="1200" dirty="0">
                <a:solidFill>
                  <a:srgbClr val="55655A"/>
                </a:solidFill>
                <a:latin typeface="Meiryo" pitchFamily="34" charset="0"/>
                <a:ea typeface="Meiryo" pitchFamily="34" charset="-122"/>
                <a:cs typeface="Meiryo" pitchFamily="34" charset="-120"/>
              </a:rPr>
              <a:t>分別区分・出し方・注意事項をそのまま表示</a:t>
            </a:r>
            <a:endParaRPr lang="en-US" sz="1200" dirty="0"/>
          </a:p>
        </p:txBody>
      </p:sp>
      <p:sp>
        <p:nvSpPr>
          <p:cNvPr id="13" name="Text 10"/>
          <p:cNvSpPr txBox="1"/>
          <p:nvPr/>
        </p:nvSpPr>
        <p:spPr>
          <a:xfrm>
            <a:off x="5980176" y="2377440"/>
            <a:ext cx="182880" cy="274320"/>
          </a:xfrm>
          <a:prstGeom prst="rect">
            <a:avLst/>
          </a:prstGeom>
          <a:noFill/>
          <a:ln/>
        </p:spPr>
        <p:txBody>
          <a:bodyPr wrap="square" lIns="0" tIns="0" rIns="0" bIns="0" rtlCol="0" anchor="ctr"/>
          <a:lstStyle/>
          <a:p>
            <a:pPr algn="ctr" indent="0" marL="0">
              <a:buNone/>
            </a:pPr>
            <a:r>
              <a:rPr lang="en-US" sz="1100" dirty="0">
                <a:solidFill>
                  <a:srgbClr val="456B52"/>
                </a:solidFill>
                <a:latin typeface="Meiryo" pitchFamily="34" charset="0"/>
                <a:ea typeface="Meiryo" pitchFamily="34" charset="-122"/>
                <a:cs typeface="Meiryo" pitchFamily="34" charset="-120"/>
              </a:rPr>
              <a:t>▶</a:t>
            </a:r>
            <a:endParaRPr lang="en-US" sz="1100" dirty="0"/>
          </a:p>
        </p:txBody>
      </p:sp>
      <p:sp>
        <p:nvSpPr>
          <p:cNvPr id="14" name="Shape 11"/>
          <p:cNvSpPr/>
          <p:nvPr/>
        </p:nvSpPr>
        <p:spPr>
          <a:xfrm>
            <a:off x="6163056" y="1783080"/>
            <a:ext cx="2615184" cy="1508760"/>
          </a:xfrm>
          <a:prstGeom prst="roundRect">
            <a:avLst>
              <a:gd name="adj" fmla="val 3030"/>
            </a:avLst>
          </a:prstGeom>
          <a:solidFill>
            <a:srgbClr val="E4EDE5"/>
          </a:solidFill>
          <a:ln w="12700">
            <a:solidFill>
              <a:srgbClr val="333333"/>
            </a:solidFill>
            <a:prstDash val="solid"/>
          </a:ln>
        </p:spPr>
      </p:sp>
      <p:sp>
        <p:nvSpPr>
          <p:cNvPr id="15" name="Text 12"/>
          <p:cNvSpPr txBox="1"/>
          <p:nvPr/>
        </p:nvSpPr>
        <p:spPr>
          <a:xfrm>
            <a:off x="6400800" y="1993392"/>
            <a:ext cx="214884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回収場所を判定</a:t>
            </a:r>
            <a:endParaRPr lang="en-US" sz="1500" dirty="0"/>
          </a:p>
        </p:txBody>
      </p:sp>
      <p:sp>
        <p:nvSpPr>
          <p:cNvPr id="16" name="Text 13"/>
          <p:cNvSpPr txBox="1"/>
          <p:nvPr/>
        </p:nvSpPr>
        <p:spPr>
          <a:xfrm>
            <a:off x="6400800" y="2359152"/>
            <a:ext cx="2148840" cy="777240"/>
          </a:xfrm>
          <a:prstGeom prst="rect">
            <a:avLst/>
          </a:prstGeom>
          <a:noFill/>
          <a:ln/>
        </p:spPr>
        <p:txBody>
          <a:bodyPr wrap="square" lIns="0" tIns="0" rIns="0" bIns="0" rtlCol="0" anchor="ctr"/>
          <a:lstStyle/>
          <a:p>
            <a:pPr indent="0" marL="0">
              <a:lnSpc>
                <a:spcPts val="1700"/>
              </a:lnSpc>
              <a:buNone/>
            </a:pPr>
            <a:r>
              <a:rPr lang="en-US" sz="1200" dirty="0">
                <a:solidFill>
                  <a:srgbClr val="55655A"/>
                </a:solidFill>
                <a:latin typeface="Meiryo" pitchFamily="34" charset="0"/>
                <a:ea typeface="Meiryo" pitchFamily="34" charset="-122"/>
                <a:cs typeface="Meiryo" pitchFamily="34" charset="-120"/>
              </a:rPr>
              <a:t>その品目を受け入れる施設だけを抽出</a:t>
            </a:r>
            <a:endParaRPr lang="en-US" sz="1200" dirty="0"/>
          </a:p>
        </p:txBody>
      </p:sp>
      <p:sp>
        <p:nvSpPr>
          <p:cNvPr id="17" name="Text 14"/>
          <p:cNvSpPr txBox="1"/>
          <p:nvPr/>
        </p:nvSpPr>
        <p:spPr>
          <a:xfrm>
            <a:off x="8778240" y="2377440"/>
            <a:ext cx="182880" cy="274320"/>
          </a:xfrm>
          <a:prstGeom prst="rect">
            <a:avLst/>
          </a:prstGeom>
          <a:noFill/>
          <a:ln/>
        </p:spPr>
        <p:txBody>
          <a:bodyPr wrap="square" lIns="0" tIns="0" rIns="0" bIns="0" rtlCol="0" anchor="ctr"/>
          <a:lstStyle/>
          <a:p>
            <a:pPr algn="ctr" indent="0" marL="0">
              <a:buNone/>
            </a:pPr>
            <a:r>
              <a:rPr lang="en-US" sz="1100" dirty="0">
                <a:solidFill>
                  <a:srgbClr val="456B52"/>
                </a:solidFill>
                <a:latin typeface="Meiryo" pitchFamily="34" charset="0"/>
                <a:ea typeface="Meiryo" pitchFamily="34" charset="-122"/>
                <a:cs typeface="Meiryo" pitchFamily="34" charset="-120"/>
              </a:rPr>
              <a:t>▶</a:t>
            </a:r>
            <a:endParaRPr lang="en-US" sz="1100" dirty="0"/>
          </a:p>
        </p:txBody>
      </p:sp>
      <p:sp>
        <p:nvSpPr>
          <p:cNvPr id="18" name="Shape 15"/>
          <p:cNvSpPr/>
          <p:nvPr/>
        </p:nvSpPr>
        <p:spPr>
          <a:xfrm>
            <a:off x="8961120" y="1783080"/>
            <a:ext cx="2615184" cy="1508760"/>
          </a:xfrm>
          <a:prstGeom prst="roundRect">
            <a:avLst>
              <a:gd name="adj" fmla="val 3030"/>
            </a:avLst>
          </a:prstGeom>
          <a:solidFill>
            <a:srgbClr val="E4EDE5"/>
          </a:solidFill>
          <a:ln w="12700">
            <a:solidFill>
              <a:srgbClr val="333333"/>
            </a:solidFill>
            <a:prstDash val="solid"/>
          </a:ln>
        </p:spPr>
      </p:sp>
      <p:sp>
        <p:nvSpPr>
          <p:cNvPr id="19" name="Text 16"/>
          <p:cNvSpPr txBox="1"/>
          <p:nvPr/>
        </p:nvSpPr>
        <p:spPr>
          <a:xfrm>
            <a:off x="9198864" y="1993392"/>
            <a:ext cx="214884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近い順に案内</a:t>
            </a:r>
            <a:endParaRPr lang="en-US" sz="1500" dirty="0"/>
          </a:p>
        </p:txBody>
      </p:sp>
      <p:sp>
        <p:nvSpPr>
          <p:cNvPr id="20" name="Text 17"/>
          <p:cNvSpPr txBox="1"/>
          <p:nvPr/>
        </p:nvSpPr>
        <p:spPr>
          <a:xfrm>
            <a:off x="9198864" y="2359152"/>
            <a:ext cx="2148840" cy="777240"/>
          </a:xfrm>
          <a:prstGeom prst="rect">
            <a:avLst/>
          </a:prstGeom>
          <a:noFill/>
          <a:ln/>
        </p:spPr>
        <p:txBody>
          <a:bodyPr wrap="square" lIns="0" tIns="0" rIns="0" bIns="0" rtlCol="0" anchor="ctr"/>
          <a:lstStyle/>
          <a:p>
            <a:pPr indent="0" marL="0">
              <a:lnSpc>
                <a:spcPts val="1700"/>
              </a:lnSpc>
              <a:buNone/>
            </a:pPr>
            <a:r>
              <a:rPr lang="en-US" sz="1200" dirty="0">
                <a:solidFill>
                  <a:srgbClr val="55655A"/>
                </a:solidFill>
                <a:latin typeface="Meiryo" pitchFamily="34" charset="0"/>
                <a:ea typeface="Meiryo" pitchFamily="34" charset="-122"/>
                <a:cs typeface="Meiryo" pitchFamily="34" charset="-120"/>
              </a:rPr>
              <a:t>直線距離順＋地図＋経路リンク</a:t>
            </a:r>
            <a:endParaRPr lang="en-US" sz="1200" dirty="0"/>
          </a:p>
        </p:txBody>
      </p:sp>
      <p:sp>
        <p:nvSpPr>
          <p:cNvPr id="21" name="Shape 18"/>
          <p:cNvSpPr/>
          <p:nvPr/>
        </p:nvSpPr>
        <p:spPr>
          <a:xfrm>
            <a:off x="566928" y="3657600"/>
            <a:ext cx="3520440" cy="1737360"/>
          </a:xfrm>
          <a:prstGeom prst="roundRect">
            <a:avLst>
              <a:gd name="adj" fmla="val 2632"/>
            </a:avLst>
          </a:prstGeom>
          <a:solidFill>
            <a:srgbClr val="F3F6F1"/>
          </a:solidFill>
          <a:ln w="12700">
            <a:solidFill>
              <a:srgbClr val="333333"/>
            </a:solidFill>
            <a:prstDash val="solid"/>
          </a:ln>
        </p:spPr>
      </p:sp>
      <p:sp>
        <p:nvSpPr>
          <p:cNvPr id="22" name="Shape 19"/>
          <p:cNvSpPr/>
          <p:nvPr/>
        </p:nvSpPr>
        <p:spPr>
          <a:xfrm>
            <a:off x="841248" y="3886200"/>
            <a:ext cx="365760" cy="365760"/>
          </a:xfrm>
          <a:prstGeom prst="roundRect">
            <a:avLst>
              <a:gd name="adj" fmla="val 87500"/>
            </a:avLst>
          </a:prstGeom>
          <a:solidFill>
            <a:srgbClr val="E3A93B"/>
          </a:solidFill>
          <a:ln w="12700">
            <a:solidFill>
              <a:srgbClr val="333333"/>
            </a:solidFill>
            <a:prstDash val="solid"/>
          </a:ln>
        </p:spPr>
      </p:sp>
      <p:sp>
        <p:nvSpPr>
          <p:cNvPr id="23" name="Text 20"/>
          <p:cNvSpPr txBox="1"/>
          <p:nvPr/>
        </p:nvSpPr>
        <p:spPr>
          <a:xfrm>
            <a:off x="841248" y="3886200"/>
            <a:ext cx="365760" cy="365760"/>
          </a:xfrm>
          <a:prstGeom prst="rect">
            <a:avLst/>
          </a:prstGeom>
          <a:noFill/>
          <a:ln/>
        </p:spPr>
        <p:txBody>
          <a:bodyPr wrap="square" lIns="0" tIns="0" rIns="0" bIns="0" rtlCol="0" anchor="ctr"/>
          <a:lstStyle/>
          <a:p>
            <a:pPr algn="ctr" indent="0" marL="0">
              <a:buNone/>
            </a:pPr>
            <a:r>
              <a:rPr lang="en-US" sz="1200" b="1" dirty="0">
                <a:solidFill>
                  <a:srgbClr val="25392C"/>
                </a:solidFill>
                <a:latin typeface="Meiryo" pitchFamily="34" charset="0"/>
                <a:ea typeface="Meiryo" pitchFamily="34" charset="-122"/>
                <a:cs typeface="Meiryo" pitchFamily="34" charset="-120"/>
              </a:rPr>
              <a:t>1</a:t>
            </a:r>
            <a:endParaRPr lang="en-US" sz="1200" dirty="0"/>
          </a:p>
        </p:txBody>
      </p:sp>
      <p:sp>
        <p:nvSpPr>
          <p:cNvPr id="24" name="Text 21"/>
          <p:cNvSpPr txBox="1"/>
          <p:nvPr/>
        </p:nvSpPr>
        <p:spPr>
          <a:xfrm>
            <a:off x="1344168" y="3931920"/>
            <a:ext cx="256032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迷わせない</a:t>
            </a:r>
            <a:endParaRPr lang="en-US" sz="1500" dirty="0"/>
          </a:p>
        </p:txBody>
      </p:sp>
      <p:sp>
        <p:nvSpPr>
          <p:cNvPr id="25" name="Text 22"/>
          <p:cNvSpPr txBox="1"/>
          <p:nvPr/>
        </p:nvSpPr>
        <p:spPr>
          <a:xfrm>
            <a:off x="841248" y="4434840"/>
            <a:ext cx="2971800" cy="82296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回収場所がない品目には地図を出さない。必要な人にだけ案内が出る。</a:t>
            </a:r>
            <a:endParaRPr lang="en-US" sz="1200" dirty="0"/>
          </a:p>
        </p:txBody>
      </p:sp>
      <p:sp>
        <p:nvSpPr>
          <p:cNvPr id="26" name="Shape 23"/>
          <p:cNvSpPr/>
          <p:nvPr/>
        </p:nvSpPr>
        <p:spPr>
          <a:xfrm>
            <a:off x="4315968" y="3657600"/>
            <a:ext cx="3520440" cy="1737360"/>
          </a:xfrm>
          <a:prstGeom prst="roundRect">
            <a:avLst>
              <a:gd name="adj" fmla="val 2632"/>
            </a:avLst>
          </a:prstGeom>
          <a:solidFill>
            <a:srgbClr val="F3F6F1"/>
          </a:solidFill>
          <a:ln w="12700">
            <a:solidFill>
              <a:srgbClr val="333333"/>
            </a:solidFill>
            <a:prstDash val="solid"/>
          </a:ln>
        </p:spPr>
      </p:sp>
      <p:sp>
        <p:nvSpPr>
          <p:cNvPr id="27" name="Shape 24"/>
          <p:cNvSpPr/>
          <p:nvPr/>
        </p:nvSpPr>
        <p:spPr>
          <a:xfrm>
            <a:off x="4590288" y="3886200"/>
            <a:ext cx="365760" cy="365760"/>
          </a:xfrm>
          <a:prstGeom prst="roundRect">
            <a:avLst>
              <a:gd name="adj" fmla="val 87500"/>
            </a:avLst>
          </a:prstGeom>
          <a:solidFill>
            <a:srgbClr val="E3A93B"/>
          </a:solidFill>
          <a:ln w="12700">
            <a:solidFill>
              <a:srgbClr val="333333"/>
            </a:solidFill>
            <a:prstDash val="solid"/>
          </a:ln>
        </p:spPr>
      </p:sp>
      <p:sp>
        <p:nvSpPr>
          <p:cNvPr id="28" name="Text 25"/>
          <p:cNvSpPr txBox="1"/>
          <p:nvPr/>
        </p:nvSpPr>
        <p:spPr>
          <a:xfrm>
            <a:off x="4590288" y="3886200"/>
            <a:ext cx="365760" cy="365760"/>
          </a:xfrm>
          <a:prstGeom prst="rect">
            <a:avLst/>
          </a:prstGeom>
          <a:noFill/>
          <a:ln/>
        </p:spPr>
        <p:txBody>
          <a:bodyPr wrap="square" lIns="0" tIns="0" rIns="0" bIns="0" rtlCol="0" anchor="ctr"/>
          <a:lstStyle/>
          <a:p>
            <a:pPr algn="ctr" indent="0" marL="0">
              <a:buNone/>
            </a:pPr>
            <a:r>
              <a:rPr lang="en-US" sz="1200" b="1" dirty="0">
                <a:solidFill>
                  <a:srgbClr val="25392C"/>
                </a:solidFill>
                <a:latin typeface="Meiryo" pitchFamily="34" charset="0"/>
                <a:ea typeface="Meiryo" pitchFamily="34" charset="-122"/>
                <a:cs typeface="Meiryo" pitchFamily="34" charset="-120"/>
              </a:rPr>
              <a:t>2</a:t>
            </a:r>
            <a:endParaRPr lang="en-US" sz="1200" dirty="0"/>
          </a:p>
        </p:txBody>
      </p:sp>
      <p:sp>
        <p:nvSpPr>
          <p:cNvPr id="29" name="Text 26"/>
          <p:cNvSpPr txBox="1"/>
          <p:nvPr/>
        </p:nvSpPr>
        <p:spPr>
          <a:xfrm>
            <a:off x="5093208" y="3931920"/>
            <a:ext cx="256032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断定しない</a:t>
            </a:r>
            <a:endParaRPr lang="en-US" sz="1500" dirty="0"/>
          </a:p>
        </p:txBody>
      </p:sp>
      <p:sp>
        <p:nvSpPr>
          <p:cNvPr id="30" name="Text 27"/>
          <p:cNvSpPr txBox="1"/>
          <p:nvPr/>
        </p:nvSpPr>
        <p:spPr>
          <a:xfrm>
            <a:off x="4590288" y="4434840"/>
            <a:ext cx="2971800" cy="82296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持込が必要な品目は「家庭ごみで出せる」と言い切らず、公式情報の確認を促す。</a:t>
            </a:r>
            <a:endParaRPr lang="en-US" sz="1200" dirty="0"/>
          </a:p>
        </p:txBody>
      </p:sp>
      <p:sp>
        <p:nvSpPr>
          <p:cNvPr id="31" name="Shape 28"/>
          <p:cNvSpPr/>
          <p:nvPr/>
        </p:nvSpPr>
        <p:spPr>
          <a:xfrm>
            <a:off x="8065008" y="3657600"/>
            <a:ext cx="3520440" cy="1737360"/>
          </a:xfrm>
          <a:prstGeom prst="roundRect">
            <a:avLst>
              <a:gd name="adj" fmla="val 2632"/>
            </a:avLst>
          </a:prstGeom>
          <a:solidFill>
            <a:srgbClr val="F3F6F1"/>
          </a:solidFill>
          <a:ln w="12700">
            <a:solidFill>
              <a:srgbClr val="333333"/>
            </a:solidFill>
            <a:prstDash val="solid"/>
          </a:ln>
        </p:spPr>
      </p:sp>
      <p:sp>
        <p:nvSpPr>
          <p:cNvPr id="32" name="Shape 29"/>
          <p:cNvSpPr/>
          <p:nvPr/>
        </p:nvSpPr>
        <p:spPr>
          <a:xfrm>
            <a:off x="8339328" y="3886200"/>
            <a:ext cx="365760" cy="365760"/>
          </a:xfrm>
          <a:prstGeom prst="roundRect">
            <a:avLst>
              <a:gd name="adj" fmla="val 87500"/>
            </a:avLst>
          </a:prstGeom>
          <a:solidFill>
            <a:srgbClr val="E3A93B"/>
          </a:solidFill>
          <a:ln w="12700">
            <a:solidFill>
              <a:srgbClr val="333333"/>
            </a:solidFill>
            <a:prstDash val="solid"/>
          </a:ln>
        </p:spPr>
      </p:sp>
      <p:sp>
        <p:nvSpPr>
          <p:cNvPr id="33" name="Text 30"/>
          <p:cNvSpPr txBox="1"/>
          <p:nvPr/>
        </p:nvSpPr>
        <p:spPr>
          <a:xfrm>
            <a:off x="8339328" y="3886200"/>
            <a:ext cx="365760" cy="365760"/>
          </a:xfrm>
          <a:prstGeom prst="rect">
            <a:avLst/>
          </a:prstGeom>
          <a:noFill/>
          <a:ln/>
        </p:spPr>
        <p:txBody>
          <a:bodyPr wrap="square" lIns="0" tIns="0" rIns="0" bIns="0" rtlCol="0" anchor="ctr"/>
          <a:lstStyle/>
          <a:p>
            <a:pPr algn="ctr" indent="0" marL="0">
              <a:buNone/>
            </a:pPr>
            <a:r>
              <a:rPr lang="en-US" sz="1200" b="1" dirty="0">
                <a:solidFill>
                  <a:srgbClr val="25392C"/>
                </a:solidFill>
                <a:latin typeface="Meiryo" pitchFamily="34" charset="0"/>
                <a:ea typeface="Meiryo" pitchFamily="34" charset="-122"/>
                <a:cs typeface="Meiryo" pitchFamily="34" charset="-120"/>
              </a:rPr>
              <a:t>3</a:t>
            </a:r>
            <a:endParaRPr lang="en-US" sz="1200" dirty="0"/>
          </a:p>
        </p:txBody>
      </p:sp>
      <p:sp>
        <p:nvSpPr>
          <p:cNvPr id="34" name="Text 31"/>
          <p:cNvSpPr txBox="1"/>
          <p:nvPr/>
        </p:nvSpPr>
        <p:spPr>
          <a:xfrm>
            <a:off x="8842248" y="3931920"/>
            <a:ext cx="256032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持たない</a:t>
            </a:r>
            <a:endParaRPr lang="en-US" sz="1500" dirty="0"/>
          </a:p>
        </p:txBody>
      </p:sp>
      <p:sp>
        <p:nvSpPr>
          <p:cNvPr id="35" name="Text 32"/>
          <p:cNvSpPr txBox="1"/>
          <p:nvPr/>
        </p:nvSpPr>
        <p:spPr>
          <a:xfrm>
            <a:off x="8339328" y="4434840"/>
            <a:ext cx="2971800" cy="82296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現在地は距離計算にだけ使い、DB・ファイル・ログのいずれにも保存しない。</a:t>
            </a:r>
            <a:endParaRPr lang="en-US" sz="1200" dirty="0"/>
          </a:p>
        </p:txBody>
      </p:sp>
      <p:sp>
        <p:nvSpPr>
          <p:cNvPr id="36" name="Text 33"/>
          <p:cNvSpPr txBox="1"/>
          <p:nvPr/>
        </p:nvSpPr>
        <p:spPr>
          <a:xfrm>
            <a:off x="566928" y="5623560"/>
            <a:ext cx="8229600" cy="274320"/>
          </a:xfrm>
          <a:prstGeom prst="rect">
            <a:avLst/>
          </a:prstGeom>
          <a:noFill/>
          <a:ln/>
        </p:spPr>
        <p:txBody>
          <a:bodyPr wrap="square" lIns="0" tIns="0" rIns="0" bIns="0" rtlCol="0" anchor="ctr"/>
          <a:lstStyle/>
          <a:p>
            <a:pPr indent="0" marL="0">
              <a:buNone/>
            </a:pPr>
            <a:r>
              <a:rPr lang="en-US" sz="1100" dirty="0">
                <a:solidFill>
                  <a:srgbClr val="55655A"/>
                </a:solidFill>
                <a:latin typeface="Meiryo" pitchFamily="34" charset="0"/>
                <a:ea typeface="Meiryo" pitchFamily="34" charset="-122"/>
                <a:cs typeface="Meiryo" pitchFamily="34" charset="-120"/>
              </a:rPr>
              <a:t>※ 前ページの4ステップが、そのまま1画面の流れになっています。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566928" y="457200"/>
            <a:ext cx="8412480" cy="274320"/>
          </a:xfrm>
          <a:prstGeom prst="rect">
            <a:avLst/>
          </a:prstGeom>
          <a:noFill/>
          <a:ln/>
        </p:spPr>
        <p:txBody>
          <a:bodyPr wrap="square" lIns="0" tIns="0" rIns="0" bIns="0" rtlCol="0" anchor="ctr"/>
          <a:lstStyle/>
          <a:p>
            <a:pPr indent="0" marL="0">
              <a:buNone/>
            </a:pPr>
            <a:r>
              <a:rPr lang="en-US" sz="1200" b="1" spc="100" kern="0" dirty="0">
                <a:solidFill>
                  <a:srgbClr val="456B52"/>
                </a:solidFill>
                <a:latin typeface="Meiryo" pitchFamily="34" charset="0"/>
                <a:ea typeface="Meiryo" pitchFamily="34" charset="-122"/>
                <a:cs typeface="Meiryo" pitchFamily="34" charset="-120"/>
              </a:rPr>
              <a:t>画面 1 ／ 品目検索</a:t>
            </a:r>
            <a:endParaRPr lang="en-US" sz="1200" dirty="0"/>
          </a:p>
        </p:txBody>
      </p:sp>
      <p:sp>
        <p:nvSpPr>
          <p:cNvPr id="4" name="Text 1"/>
          <p:cNvSpPr txBox="1"/>
          <p:nvPr/>
        </p:nvSpPr>
        <p:spPr>
          <a:xfrm>
            <a:off x="9613087" y="457200"/>
            <a:ext cx="2011680" cy="274320"/>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3:30 / 10:00</a:t>
            </a:r>
            <a:endParaRPr lang="en-US" sz="1100" dirty="0"/>
          </a:p>
        </p:txBody>
      </p:sp>
      <p:sp>
        <p:nvSpPr>
          <p:cNvPr id="5" name="Text 2"/>
          <p:cNvSpPr txBox="1"/>
          <p:nvPr/>
        </p:nvSpPr>
        <p:spPr>
          <a:xfrm>
            <a:off x="566928" y="804672"/>
            <a:ext cx="11057839" cy="685800"/>
          </a:xfrm>
          <a:prstGeom prst="rect">
            <a:avLst/>
          </a:prstGeom>
          <a:noFill/>
          <a:ln/>
        </p:spPr>
        <p:txBody>
          <a:bodyPr wrap="square" lIns="0" tIns="0" rIns="0" bIns="0" rtlCol="0" anchor="ctr"/>
          <a:lstStyle/>
          <a:p>
            <a:pPr indent="0" marL="0">
              <a:lnSpc>
                <a:spcPts val="3400"/>
              </a:lnSpc>
              <a:buNone/>
            </a:pPr>
            <a:r>
              <a:rPr lang="en-US" sz="2800" b="1" dirty="0">
                <a:solidFill>
                  <a:srgbClr val="17211A"/>
                </a:solidFill>
                <a:latin typeface="Meiryo" pitchFamily="34" charset="0"/>
                <a:ea typeface="Meiryo" pitchFamily="34" charset="-122"/>
                <a:cs typeface="Meiryo" pitchFamily="34" charset="-120"/>
              </a:rPr>
              <a:t>思い出せる言葉で、2,058品目から引ける</a:t>
            </a:r>
            <a:endParaRPr lang="en-US" sz="2800" dirty="0"/>
          </a:p>
        </p:txBody>
      </p:sp>
      <p:sp>
        <p:nvSpPr>
          <p:cNvPr id="6" name="Shape 3"/>
          <p:cNvSpPr/>
          <p:nvPr/>
        </p:nvSpPr>
        <p:spPr>
          <a:xfrm>
            <a:off x="566928" y="1783080"/>
            <a:ext cx="6035040" cy="3566160"/>
          </a:xfrm>
          <a:prstGeom prst="roundRect">
            <a:avLst>
              <a:gd name="adj" fmla="val 1282"/>
            </a:avLst>
          </a:prstGeom>
          <a:solidFill>
            <a:srgbClr val="FFFFFF"/>
          </a:solidFill>
          <a:ln w="12700">
            <a:solidFill>
              <a:srgbClr val="333333"/>
            </a:solidFill>
            <a:prstDash val="solid"/>
          </a:ln>
        </p:spPr>
      </p:sp>
      <p:sp>
        <p:nvSpPr>
          <p:cNvPr id="7" name="Shape 4"/>
          <p:cNvSpPr/>
          <p:nvPr/>
        </p:nvSpPr>
        <p:spPr>
          <a:xfrm>
            <a:off x="566928" y="1783080"/>
            <a:ext cx="6035040" cy="3566160"/>
          </a:xfrm>
          <a:prstGeom prst="roundRect">
            <a:avLst>
              <a:gd name="adj" fmla="val 1282"/>
            </a:avLst>
          </a:prstGeom>
          <a:solidFill>
            <a:srgbClr val="FFFFFF"/>
          </a:solidFill>
          <a:ln w="12700">
            <a:solidFill>
              <a:srgbClr val="DCE3DA"/>
            </a:solidFill>
            <a:prstDash val="solid"/>
          </a:ln>
        </p:spPr>
      </p:sp>
      <p:sp>
        <p:nvSpPr>
          <p:cNvPr id="8" name="Shape 5"/>
          <p:cNvSpPr/>
          <p:nvPr/>
        </p:nvSpPr>
        <p:spPr>
          <a:xfrm>
            <a:off x="566928" y="1783080"/>
            <a:ext cx="6035040" cy="420624"/>
          </a:xfrm>
          <a:prstGeom prst="rect">
            <a:avLst/>
          </a:prstGeom>
          <a:solidFill>
            <a:srgbClr val="25392C"/>
          </a:solidFill>
          <a:ln w="12700">
            <a:solidFill>
              <a:srgbClr val="333333"/>
            </a:solidFill>
            <a:prstDash val="solid"/>
          </a:ln>
        </p:spPr>
      </p:sp>
      <p:sp>
        <p:nvSpPr>
          <p:cNvPr id="9" name="Text 6"/>
          <p:cNvSpPr txBox="1"/>
          <p:nvPr/>
        </p:nvSpPr>
        <p:spPr>
          <a:xfrm>
            <a:off x="768096" y="1874520"/>
            <a:ext cx="3520440" cy="237744"/>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CODIHA ／ ごみ品目をさがす</a:t>
            </a:r>
            <a:endParaRPr lang="en-US" sz="1200" dirty="0"/>
          </a:p>
        </p:txBody>
      </p:sp>
      <p:sp>
        <p:nvSpPr>
          <p:cNvPr id="10" name="Text 7"/>
          <p:cNvSpPr txBox="1"/>
          <p:nvPr/>
        </p:nvSpPr>
        <p:spPr>
          <a:xfrm>
            <a:off x="4498848" y="1892808"/>
            <a:ext cx="1920240" cy="219456"/>
          </a:xfrm>
          <a:prstGeom prst="rect">
            <a:avLst/>
          </a:prstGeom>
          <a:noFill/>
          <a:ln/>
        </p:spPr>
        <p:txBody>
          <a:bodyPr wrap="square" lIns="0" tIns="0" rIns="0" bIns="0" rtlCol="0" anchor="ctr"/>
          <a:lstStyle/>
          <a:p>
            <a:pPr algn="r" indent="0" marL="0">
              <a:buNone/>
            </a:pPr>
            <a:r>
              <a:rPr lang="en-US" sz="1000" dirty="0">
                <a:solidFill>
                  <a:srgbClr val="A9BFAE"/>
                </a:solidFill>
                <a:latin typeface="Meiryo" pitchFamily="34" charset="0"/>
                <a:ea typeface="Meiryo" pitchFamily="34" charset="-122"/>
                <a:cs typeface="Meiryo" pitchFamily="34" charset="-120"/>
              </a:rPr>
              <a:t>localhost:3000</a:t>
            </a:r>
            <a:endParaRPr lang="en-US" sz="1000" dirty="0"/>
          </a:p>
        </p:txBody>
      </p:sp>
      <p:sp>
        <p:nvSpPr>
          <p:cNvPr id="11" name="Shape 8"/>
          <p:cNvSpPr/>
          <p:nvPr/>
        </p:nvSpPr>
        <p:spPr>
          <a:xfrm>
            <a:off x="768096" y="2404872"/>
            <a:ext cx="5632704" cy="438912"/>
          </a:xfrm>
          <a:prstGeom prst="rect">
            <a:avLst/>
          </a:prstGeom>
          <a:solidFill>
            <a:srgbClr val="F3F6F1"/>
          </a:solidFill>
          <a:ln w="12700">
            <a:solidFill>
              <a:srgbClr val="333333"/>
            </a:solidFill>
            <a:prstDash val="solid"/>
          </a:ln>
        </p:spPr>
      </p:sp>
      <p:sp>
        <p:nvSpPr>
          <p:cNvPr id="12" name="Text 9"/>
          <p:cNvSpPr txBox="1"/>
          <p:nvPr/>
        </p:nvSpPr>
        <p:spPr>
          <a:xfrm>
            <a:off x="932688" y="2496312"/>
            <a:ext cx="2743200" cy="274320"/>
          </a:xfrm>
          <a:prstGeom prst="rect">
            <a:avLst/>
          </a:prstGeom>
          <a:noFill/>
          <a:ln/>
        </p:spPr>
        <p:txBody>
          <a:bodyPr wrap="square" lIns="0" tIns="0" rIns="0" bIns="0" rtlCol="0" anchor="ctr"/>
          <a:lstStyle/>
          <a:p>
            <a:pPr indent="0" marL="0">
              <a:buNone/>
            </a:pPr>
            <a:r>
              <a:rPr lang="en-US" sz="1400" dirty="0">
                <a:solidFill>
                  <a:srgbClr val="17211A"/>
                </a:solidFill>
                <a:latin typeface="Meiryo" pitchFamily="34" charset="0"/>
                <a:ea typeface="Meiryo" pitchFamily="34" charset="-122"/>
                <a:cs typeface="Meiryo" pitchFamily="34" charset="-120"/>
              </a:rPr>
              <a:t>すまほ</a:t>
            </a:r>
            <a:endParaRPr lang="en-US" sz="1400" dirty="0"/>
          </a:p>
        </p:txBody>
      </p:sp>
      <p:sp>
        <p:nvSpPr>
          <p:cNvPr id="13" name="Text 10"/>
          <p:cNvSpPr txBox="1"/>
          <p:nvPr/>
        </p:nvSpPr>
        <p:spPr>
          <a:xfrm>
            <a:off x="4773168" y="2514600"/>
            <a:ext cx="1463040" cy="237744"/>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2,058件中 4件</a:t>
            </a:r>
            <a:endParaRPr lang="en-US" sz="1100" dirty="0"/>
          </a:p>
        </p:txBody>
      </p:sp>
      <p:sp>
        <p:nvSpPr>
          <p:cNvPr id="14" name="Shape 11"/>
          <p:cNvSpPr/>
          <p:nvPr/>
        </p:nvSpPr>
        <p:spPr>
          <a:xfrm>
            <a:off x="768096" y="3017520"/>
            <a:ext cx="5632704" cy="457200"/>
          </a:xfrm>
          <a:prstGeom prst="rect">
            <a:avLst/>
          </a:prstGeom>
          <a:solidFill>
            <a:srgbClr val="FBF1DA"/>
          </a:solidFill>
          <a:ln w="12700">
            <a:solidFill>
              <a:srgbClr val="333333"/>
            </a:solidFill>
            <a:prstDash val="solid"/>
          </a:ln>
        </p:spPr>
      </p:sp>
      <p:sp>
        <p:nvSpPr>
          <p:cNvPr id="15" name="Text 12"/>
          <p:cNvSpPr txBox="1"/>
          <p:nvPr/>
        </p:nvSpPr>
        <p:spPr>
          <a:xfrm>
            <a:off x="932688" y="3136392"/>
            <a:ext cx="3108960" cy="237744"/>
          </a:xfrm>
          <a:prstGeom prst="rect">
            <a:avLst/>
          </a:prstGeom>
          <a:noFill/>
          <a:ln/>
        </p:spPr>
        <p:txBody>
          <a:bodyPr wrap="square" lIns="0" tIns="0" rIns="0" bIns="0" rtlCol="0" anchor="ctr"/>
          <a:lstStyle/>
          <a:p>
            <a:pPr indent="0" marL="0">
              <a:buNone/>
            </a:pPr>
            <a:r>
              <a:rPr lang="en-US" sz="1300" b="1" dirty="0">
                <a:solidFill>
                  <a:srgbClr val="17211A"/>
                </a:solidFill>
                <a:latin typeface="Meiryo" pitchFamily="34" charset="0"/>
                <a:ea typeface="Meiryo" pitchFamily="34" charset="-122"/>
                <a:cs typeface="Meiryo" pitchFamily="34" charset="-120"/>
              </a:rPr>
              <a:t>スマートフォン</a:t>
            </a:r>
            <a:endParaRPr lang="en-US" sz="1300" dirty="0"/>
          </a:p>
        </p:txBody>
      </p:sp>
      <p:sp>
        <p:nvSpPr>
          <p:cNvPr id="16" name="Text 13"/>
          <p:cNvSpPr txBox="1"/>
          <p:nvPr/>
        </p:nvSpPr>
        <p:spPr>
          <a:xfrm>
            <a:off x="4133088" y="3154680"/>
            <a:ext cx="2103120" cy="219456"/>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すまーとふぉん</a:t>
            </a:r>
            <a:endParaRPr lang="en-US" sz="1100" dirty="0"/>
          </a:p>
        </p:txBody>
      </p:sp>
      <p:sp>
        <p:nvSpPr>
          <p:cNvPr id="17" name="Shape 14"/>
          <p:cNvSpPr/>
          <p:nvPr/>
        </p:nvSpPr>
        <p:spPr>
          <a:xfrm>
            <a:off x="768096" y="3566160"/>
            <a:ext cx="5632704" cy="457200"/>
          </a:xfrm>
          <a:prstGeom prst="rect">
            <a:avLst/>
          </a:prstGeom>
          <a:solidFill>
            <a:srgbClr val="FBF1DA"/>
          </a:solidFill>
          <a:ln w="12700">
            <a:solidFill>
              <a:srgbClr val="333333"/>
            </a:solidFill>
            <a:prstDash val="solid"/>
          </a:ln>
        </p:spPr>
      </p:sp>
      <p:sp>
        <p:nvSpPr>
          <p:cNvPr id="18" name="Text 15"/>
          <p:cNvSpPr txBox="1"/>
          <p:nvPr/>
        </p:nvSpPr>
        <p:spPr>
          <a:xfrm>
            <a:off x="932688" y="3685032"/>
            <a:ext cx="3108960" cy="237744"/>
          </a:xfrm>
          <a:prstGeom prst="rect">
            <a:avLst/>
          </a:prstGeom>
          <a:noFill/>
          <a:ln/>
        </p:spPr>
        <p:txBody>
          <a:bodyPr wrap="square" lIns="0" tIns="0" rIns="0" bIns="0" rtlCol="0" anchor="ctr"/>
          <a:lstStyle/>
          <a:p>
            <a:pPr indent="0" marL="0">
              <a:buNone/>
            </a:pPr>
            <a:r>
              <a:rPr lang="en-US" sz="1300" b="1" dirty="0">
                <a:solidFill>
                  <a:srgbClr val="17211A"/>
                </a:solidFill>
                <a:latin typeface="Meiryo" pitchFamily="34" charset="0"/>
                <a:ea typeface="Meiryo" pitchFamily="34" charset="-122"/>
                <a:cs typeface="Meiryo" pitchFamily="34" charset="-120"/>
              </a:rPr>
              <a:t>スマートウォッチ</a:t>
            </a:r>
            <a:endParaRPr lang="en-US" sz="1300" dirty="0"/>
          </a:p>
        </p:txBody>
      </p:sp>
      <p:sp>
        <p:nvSpPr>
          <p:cNvPr id="19" name="Text 16"/>
          <p:cNvSpPr txBox="1"/>
          <p:nvPr/>
        </p:nvSpPr>
        <p:spPr>
          <a:xfrm>
            <a:off x="4133088" y="3703320"/>
            <a:ext cx="2103120" cy="219456"/>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すまーとうぉっち</a:t>
            </a:r>
            <a:endParaRPr lang="en-US" sz="1100" dirty="0"/>
          </a:p>
        </p:txBody>
      </p:sp>
      <p:sp>
        <p:nvSpPr>
          <p:cNvPr id="20" name="Shape 17"/>
          <p:cNvSpPr/>
          <p:nvPr/>
        </p:nvSpPr>
        <p:spPr>
          <a:xfrm>
            <a:off x="768096" y="4114800"/>
            <a:ext cx="5632704" cy="457200"/>
          </a:xfrm>
          <a:prstGeom prst="rect">
            <a:avLst/>
          </a:prstGeom>
          <a:solidFill>
            <a:srgbClr val="FFFFFF"/>
          </a:solidFill>
          <a:ln w="12700">
            <a:solidFill>
              <a:srgbClr val="333333"/>
            </a:solidFill>
            <a:prstDash val="solid"/>
          </a:ln>
        </p:spPr>
      </p:sp>
      <p:sp>
        <p:nvSpPr>
          <p:cNvPr id="21" name="Text 18"/>
          <p:cNvSpPr txBox="1"/>
          <p:nvPr/>
        </p:nvSpPr>
        <p:spPr>
          <a:xfrm>
            <a:off x="932688" y="4233672"/>
            <a:ext cx="3108960" cy="237744"/>
          </a:xfrm>
          <a:prstGeom prst="rect">
            <a:avLst/>
          </a:prstGeom>
          <a:noFill/>
          <a:ln/>
        </p:spPr>
        <p:txBody>
          <a:bodyPr wrap="square" lIns="0" tIns="0" rIns="0" bIns="0" rtlCol="0" anchor="ctr"/>
          <a:lstStyle/>
          <a:p>
            <a:pPr indent="0" marL="0">
              <a:buNone/>
            </a:pPr>
            <a:r>
              <a:rPr lang="en-US" sz="1300" dirty="0">
                <a:solidFill>
                  <a:srgbClr val="17211A"/>
                </a:solidFill>
                <a:latin typeface="Meiryo" pitchFamily="34" charset="0"/>
                <a:ea typeface="Meiryo" pitchFamily="34" charset="-122"/>
                <a:cs typeface="Meiryo" pitchFamily="34" charset="-120"/>
              </a:rPr>
              <a:t>炊飯器</a:t>
            </a:r>
            <a:endParaRPr lang="en-US" sz="1300" dirty="0"/>
          </a:p>
        </p:txBody>
      </p:sp>
      <p:sp>
        <p:nvSpPr>
          <p:cNvPr id="22" name="Text 19"/>
          <p:cNvSpPr txBox="1"/>
          <p:nvPr/>
        </p:nvSpPr>
        <p:spPr>
          <a:xfrm>
            <a:off x="4133088" y="4251960"/>
            <a:ext cx="2103120" cy="219456"/>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すいはんき</a:t>
            </a:r>
            <a:endParaRPr lang="en-US" sz="1100" dirty="0"/>
          </a:p>
        </p:txBody>
      </p:sp>
      <p:sp>
        <p:nvSpPr>
          <p:cNvPr id="23" name="Shape 20"/>
          <p:cNvSpPr/>
          <p:nvPr/>
        </p:nvSpPr>
        <p:spPr>
          <a:xfrm>
            <a:off x="768096" y="4663440"/>
            <a:ext cx="5632704" cy="457200"/>
          </a:xfrm>
          <a:prstGeom prst="rect">
            <a:avLst/>
          </a:prstGeom>
          <a:solidFill>
            <a:srgbClr val="FFFFFF"/>
          </a:solidFill>
          <a:ln w="12700">
            <a:solidFill>
              <a:srgbClr val="333333"/>
            </a:solidFill>
            <a:prstDash val="solid"/>
          </a:ln>
        </p:spPr>
      </p:sp>
      <p:sp>
        <p:nvSpPr>
          <p:cNvPr id="24" name="Text 21"/>
          <p:cNvSpPr txBox="1"/>
          <p:nvPr/>
        </p:nvSpPr>
        <p:spPr>
          <a:xfrm>
            <a:off x="932688" y="4782312"/>
            <a:ext cx="3108960" cy="237744"/>
          </a:xfrm>
          <a:prstGeom prst="rect">
            <a:avLst/>
          </a:prstGeom>
          <a:noFill/>
          <a:ln/>
        </p:spPr>
        <p:txBody>
          <a:bodyPr wrap="square" lIns="0" tIns="0" rIns="0" bIns="0" rtlCol="0" anchor="ctr"/>
          <a:lstStyle/>
          <a:p>
            <a:pPr indent="0" marL="0">
              <a:buNone/>
            </a:pPr>
            <a:r>
              <a:rPr lang="en-US" sz="1300" dirty="0">
                <a:solidFill>
                  <a:srgbClr val="17211A"/>
                </a:solidFill>
                <a:latin typeface="Meiryo" pitchFamily="34" charset="0"/>
                <a:ea typeface="Meiryo" pitchFamily="34" charset="-122"/>
                <a:cs typeface="Meiryo" pitchFamily="34" charset="-120"/>
              </a:rPr>
              <a:t>スキャナー</a:t>
            </a:r>
            <a:endParaRPr lang="en-US" sz="1300" dirty="0"/>
          </a:p>
        </p:txBody>
      </p:sp>
      <p:sp>
        <p:nvSpPr>
          <p:cNvPr id="25" name="Text 22"/>
          <p:cNvSpPr txBox="1"/>
          <p:nvPr/>
        </p:nvSpPr>
        <p:spPr>
          <a:xfrm>
            <a:off x="4133088" y="4800600"/>
            <a:ext cx="2103120" cy="219456"/>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すきゃなー</a:t>
            </a:r>
            <a:endParaRPr lang="en-US" sz="1100" dirty="0"/>
          </a:p>
        </p:txBody>
      </p:sp>
      <p:sp>
        <p:nvSpPr>
          <p:cNvPr id="26" name="Text 23"/>
          <p:cNvSpPr txBox="1"/>
          <p:nvPr/>
        </p:nvSpPr>
        <p:spPr>
          <a:xfrm>
            <a:off x="6903720" y="1920240"/>
            <a:ext cx="4709160" cy="3108960"/>
          </a:xfrm>
          <a:prstGeom prst="rect">
            <a:avLst/>
          </a:prstGeom>
          <a:noFill/>
          <a:ln/>
        </p:spPr>
        <p:txBody>
          <a:bodyPr wrap="square" lIns="0" tIns="0" rIns="0" bIns="0" rtlCol="0" anchor="ctr"/>
          <a:lstStyle/>
          <a:p>
            <a:pPr marL="342900" indent="-342900">
              <a:lnSpc>
                <a:spcPts val="2000"/>
              </a:lnSpc>
              <a:spcAft>
                <a:spcPts val="200"/>
              </a:spcAft>
              <a:buSzPct val="100000"/>
              <a:buChar char="▪"/>
            </a:pPr>
            <a:r>
              <a:rPr lang="en-US" sz="1400" b="1" dirty="0">
                <a:solidFill>
                  <a:srgbClr val="17211A"/>
                </a:solidFill>
                <a:latin typeface="Meiryo" pitchFamily="34" charset="0"/>
                <a:ea typeface="Meiryo" pitchFamily="34" charset="-122"/>
                <a:cs typeface="Meiryo" pitchFamily="34" charset="-120"/>
              </a:rPr>
              <a:t>品目名と読み仮名の部分一致で検索</a:t>
            </a:r>
            <a:endParaRPr lang="en-US" sz="1400" dirty="0"/>
          </a:p>
          <a:p>
            <a:pPr lvl="1" indent="0" marL="0">
              <a:lnSpc>
                <a:spcPts val="2000"/>
              </a:lnSpc>
              <a:spcAft>
                <a:spcPts val="1000"/>
              </a:spcAft>
              <a:buNone/>
            </a:pPr>
            <a:r>
              <a:rPr lang="en-US" sz="1100" dirty="0">
                <a:solidFill>
                  <a:srgbClr val="55655A"/>
                </a:solidFill>
                <a:latin typeface="Meiryo" pitchFamily="34" charset="0"/>
                <a:ea typeface="Meiryo" pitchFamily="34" charset="-122"/>
                <a:cs typeface="Meiryo" pitchFamily="34" charset="-120"/>
              </a:rPr>
              <a:t>ひらがなだけ覚えていても辿り着ける</a:t>
            </a:r>
            <a:endParaRPr lang="en-US" sz="1400" dirty="0"/>
          </a:p>
          <a:p>
            <a:pPr marL="342900" indent="-342900">
              <a:lnSpc>
                <a:spcPts val="2000"/>
              </a:lnSpc>
              <a:spcAft>
                <a:spcPts val="200"/>
              </a:spcAft>
              <a:buSzPct val="100000"/>
              <a:buChar char="▪"/>
            </a:pPr>
            <a:r>
              <a:rPr lang="en-US" sz="1400" b="1" dirty="0">
                <a:solidFill>
                  <a:srgbClr val="17211A"/>
                </a:solidFill>
                <a:latin typeface="Meiryo" pitchFamily="34" charset="0"/>
                <a:ea typeface="Meiryo" pitchFamily="34" charset="-122"/>
                <a:cs typeface="Meiryo" pitchFamily="34" charset="-120"/>
              </a:rPr>
              <a:t>全角・半角、大文字・小文字、カタカナ・ひらがなの違いを吸収</a:t>
            </a:r>
            <a:endParaRPr lang="en-US" sz="1400" dirty="0"/>
          </a:p>
          <a:p>
            <a:pPr lvl="1" indent="0" marL="0">
              <a:lnSpc>
                <a:spcPts val="2000"/>
              </a:lnSpc>
              <a:spcAft>
                <a:spcPts val="1000"/>
              </a:spcAft>
              <a:buNone/>
            </a:pPr>
            <a:r>
              <a:rPr lang="en-US" sz="1100" dirty="0">
                <a:solidFill>
                  <a:srgbClr val="55655A"/>
                </a:solidFill>
                <a:latin typeface="Meiryo" pitchFamily="34" charset="0"/>
                <a:ea typeface="Meiryo" pitchFamily="34" charset="-122"/>
                <a:cs typeface="Meiryo" pitchFamily="34" charset="-120"/>
              </a:rPr>
              <a:t>NFKC正規化 → 小文字化 → カタカナをひらがなへ変換</a:t>
            </a:r>
            <a:endParaRPr lang="en-US" sz="1400" dirty="0"/>
          </a:p>
          <a:p>
            <a:pPr marL="342900" indent="-342900">
              <a:lnSpc>
                <a:spcPts val="2000"/>
              </a:lnSpc>
              <a:spcAft>
                <a:spcPts val="1000"/>
              </a:spcAft>
              <a:buSzPct val="100000"/>
              <a:buChar char="▪"/>
            </a:pPr>
            <a:r>
              <a:rPr lang="en-US" sz="1400" b="1" dirty="0">
                <a:solidFill>
                  <a:srgbClr val="17211A"/>
                </a:solidFill>
                <a:latin typeface="Meiryo" pitchFamily="34" charset="0"/>
                <a:ea typeface="Meiryo" pitchFamily="34" charset="-122"/>
                <a:cs typeface="Meiryo" pitchFamily="34" charset="-120"/>
              </a:rPr>
              <a:t>検索語はSQLに直接連結せず、サーバー側で絞り込む</a:t>
            </a:r>
            <a:endParaRPr lang="en-US" sz="1400" dirty="0"/>
          </a:p>
          <a:p>
            <a:pPr marL="342900" indent="-342900">
              <a:lnSpc>
                <a:spcPts val="2000"/>
              </a:lnSpc>
              <a:spcAft>
                <a:spcPts val="1000"/>
              </a:spcAft>
              <a:buSzPct val="100000"/>
              <a:buChar char="▪"/>
            </a:pPr>
            <a:r>
              <a:rPr lang="en-US" sz="1400" b="1" dirty="0">
                <a:solidFill>
                  <a:srgbClr val="17211A"/>
                </a:solidFill>
                <a:latin typeface="Meiryo" pitchFamily="34" charset="0"/>
                <a:ea typeface="Meiryo" pitchFamily="34" charset="-122"/>
                <a:cs typeface="Meiryo" pitchFamily="34" charset="-120"/>
              </a:rPr>
              <a:t>初期表示は読み仮名の50音順（Intl.Collator）</a:t>
            </a:r>
            <a:endParaRPr lang="en-US" sz="1400" dirty="0"/>
          </a:p>
        </p:txBody>
      </p:sp>
      <p:sp>
        <p:nvSpPr>
          <p:cNvPr id="27" name="Text 24"/>
          <p:cNvSpPr txBox="1"/>
          <p:nvPr/>
        </p:nvSpPr>
        <p:spPr>
          <a:xfrm>
            <a:off x="566928" y="5669280"/>
            <a:ext cx="8686800" cy="274320"/>
          </a:xfrm>
          <a:prstGeom prst="rect">
            <a:avLst/>
          </a:prstGeom>
          <a:noFill/>
          <a:ln/>
        </p:spPr>
        <p:txBody>
          <a:bodyPr wrap="square" lIns="0" tIns="0" rIns="0" bIns="0" rtlCol="0" anchor="ctr"/>
          <a:lstStyle/>
          <a:p>
            <a:pPr indent="0" marL="0">
              <a:buNone/>
            </a:pPr>
            <a:r>
              <a:rPr lang="en-US" sz="1100" dirty="0">
                <a:solidFill>
                  <a:srgbClr val="55655A"/>
                </a:solidFill>
                <a:latin typeface="Meiryo" pitchFamily="34" charset="0"/>
                <a:ea typeface="Meiryo" pitchFamily="34" charset="-122"/>
                <a:cs typeface="Meiryo" pitchFamily="34" charset="-120"/>
              </a:rPr>
              <a:t>※ 検索結果0件と「品目データ未登録」は、別のメッセージで案内します。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566928" y="457200"/>
            <a:ext cx="8412480" cy="274320"/>
          </a:xfrm>
          <a:prstGeom prst="rect">
            <a:avLst/>
          </a:prstGeom>
          <a:noFill/>
          <a:ln/>
        </p:spPr>
        <p:txBody>
          <a:bodyPr wrap="square" lIns="0" tIns="0" rIns="0" bIns="0" rtlCol="0" anchor="ctr"/>
          <a:lstStyle/>
          <a:p>
            <a:pPr indent="0" marL="0">
              <a:buNone/>
            </a:pPr>
            <a:r>
              <a:rPr lang="en-US" sz="1200" b="1" spc="100" kern="0" dirty="0">
                <a:solidFill>
                  <a:srgbClr val="456B52"/>
                </a:solidFill>
                <a:latin typeface="Meiryo" pitchFamily="34" charset="0"/>
                <a:ea typeface="Meiryo" pitchFamily="34" charset="-122"/>
                <a:cs typeface="Meiryo" pitchFamily="34" charset="-120"/>
              </a:rPr>
              <a:t>画面 2 ／ 捨て方の表示と分岐</a:t>
            </a:r>
            <a:endParaRPr lang="en-US" sz="1200" dirty="0"/>
          </a:p>
        </p:txBody>
      </p:sp>
      <p:sp>
        <p:nvSpPr>
          <p:cNvPr id="4" name="Text 1"/>
          <p:cNvSpPr txBox="1"/>
          <p:nvPr/>
        </p:nvSpPr>
        <p:spPr>
          <a:xfrm>
            <a:off x="9613087" y="457200"/>
            <a:ext cx="2011680" cy="274320"/>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4:30 / 10:00</a:t>
            </a:r>
            <a:endParaRPr lang="en-US" sz="1100" dirty="0"/>
          </a:p>
        </p:txBody>
      </p:sp>
      <p:sp>
        <p:nvSpPr>
          <p:cNvPr id="5" name="Text 2"/>
          <p:cNvSpPr txBox="1"/>
          <p:nvPr/>
        </p:nvSpPr>
        <p:spPr>
          <a:xfrm>
            <a:off x="566928" y="804672"/>
            <a:ext cx="11057839" cy="685800"/>
          </a:xfrm>
          <a:prstGeom prst="rect">
            <a:avLst/>
          </a:prstGeom>
          <a:noFill/>
          <a:ln/>
        </p:spPr>
        <p:txBody>
          <a:bodyPr wrap="square" lIns="0" tIns="0" rIns="0" bIns="0" rtlCol="0" anchor="ctr"/>
          <a:lstStyle/>
          <a:p>
            <a:pPr indent="0" marL="0">
              <a:lnSpc>
                <a:spcPts val="3400"/>
              </a:lnSpc>
              <a:buNone/>
            </a:pPr>
            <a:r>
              <a:rPr lang="en-US" sz="2800" b="1" dirty="0">
                <a:solidFill>
                  <a:srgbClr val="17211A"/>
                </a:solidFill>
                <a:latin typeface="Meiryo" pitchFamily="34" charset="0"/>
                <a:ea typeface="Meiryo" pitchFamily="34" charset="-122"/>
                <a:cs typeface="Meiryo" pitchFamily="34" charset="-120"/>
              </a:rPr>
              <a:t>回収場所を出すかどうかは、品目の回収区分で決める</a:t>
            </a:r>
            <a:endParaRPr lang="en-US" sz="2800" dirty="0"/>
          </a:p>
        </p:txBody>
      </p:sp>
      <p:sp>
        <p:nvSpPr>
          <p:cNvPr id="6" name="Shape 3"/>
          <p:cNvSpPr/>
          <p:nvPr/>
        </p:nvSpPr>
        <p:spPr>
          <a:xfrm>
            <a:off x="566928" y="1783080"/>
            <a:ext cx="6035040" cy="3108960"/>
          </a:xfrm>
          <a:prstGeom prst="roundRect">
            <a:avLst>
              <a:gd name="adj" fmla="val 1471"/>
            </a:avLst>
          </a:prstGeom>
          <a:solidFill>
            <a:srgbClr val="FFFFFF"/>
          </a:solidFill>
          <a:ln w="12700">
            <a:solidFill>
              <a:srgbClr val="333333"/>
            </a:solidFill>
            <a:prstDash val="solid"/>
          </a:ln>
        </p:spPr>
      </p:sp>
      <p:sp>
        <p:nvSpPr>
          <p:cNvPr id="7" name="Shape 4"/>
          <p:cNvSpPr/>
          <p:nvPr/>
        </p:nvSpPr>
        <p:spPr>
          <a:xfrm>
            <a:off x="566928" y="1783080"/>
            <a:ext cx="6035040" cy="3108960"/>
          </a:xfrm>
          <a:prstGeom prst="roundRect">
            <a:avLst>
              <a:gd name="adj" fmla="val 1471"/>
            </a:avLst>
          </a:prstGeom>
          <a:solidFill>
            <a:srgbClr val="FFFFFF"/>
          </a:solidFill>
          <a:ln w="12700">
            <a:solidFill>
              <a:srgbClr val="DCE3DA"/>
            </a:solidFill>
            <a:prstDash val="solid"/>
          </a:ln>
        </p:spPr>
      </p:sp>
      <p:sp>
        <p:nvSpPr>
          <p:cNvPr id="8" name="Shape 5"/>
          <p:cNvSpPr/>
          <p:nvPr/>
        </p:nvSpPr>
        <p:spPr>
          <a:xfrm>
            <a:off x="566928" y="1783080"/>
            <a:ext cx="6035040" cy="420624"/>
          </a:xfrm>
          <a:prstGeom prst="rect">
            <a:avLst/>
          </a:prstGeom>
          <a:solidFill>
            <a:srgbClr val="25392C"/>
          </a:solidFill>
          <a:ln w="12700">
            <a:solidFill>
              <a:srgbClr val="333333"/>
            </a:solidFill>
            <a:prstDash val="solid"/>
          </a:ln>
        </p:spPr>
      </p:sp>
      <p:sp>
        <p:nvSpPr>
          <p:cNvPr id="9" name="Text 6"/>
          <p:cNvSpPr txBox="1"/>
          <p:nvPr/>
        </p:nvSpPr>
        <p:spPr>
          <a:xfrm>
            <a:off x="768096" y="1874520"/>
            <a:ext cx="3520440" cy="237744"/>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スマートフォン</a:t>
            </a:r>
            <a:endParaRPr lang="en-US" sz="1200" dirty="0"/>
          </a:p>
        </p:txBody>
      </p:sp>
      <p:sp>
        <p:nvSpPr>
          <p:cNvPr id="10" name="Text 7"/>
          <p:cNvSpPr txBox="1"/>
          <p:nvPr/>
        </p:nvSpPr>
        <p:spPr>
          <a:xfrm>
            <a:off x="4498848" y="1892808"/>
            <a:ext cx="1920240" cy="219456"/>
          </a:xfrm>
          <a:prstGeom prst="rect">
            <a:avLst/>
          </a:prstGeom>
          <a:noFill/>
          <a:ln/>
        </p:spPr>
        <p:txBody>
          <a:bodyPr wrap="square" lIns="0" tIns="0" rIns="0" bIns="0" rtlCol="0" anchor="ctr"/>
          <a:lstStyle/>
          <a:p>
            <a:pPr algn="r" indent="0" marL="0">
              <a:buNone/>
            </a:pPr>
            <a:r>
              <a:rPr lang="en-US" sz="1000" dirty="0">
                <a:solidFill>
                  <a:srgbClr val="A9BFAE"/>
                </a:solidFill>
                <a:latin typeface="Meiryo" pitchFamily="34" charset="0"/>
                <a:ea typeface="Meiryo" pitchFamily="34" charset="-122"/>
                <a:cs typeface="Meiryo" pitchFamily="34" charset="-120"/>
              </a:rPr>
              <a:t>/result?itemId=…</a:t>
            </a:r>
            <a:endParaRPr lang="en-US" sz="1000" dirty="0"/>
          </a:p>
        </p:txBody>
      </p:sp>
      <p:sp>
        <p:nvSpPr>
          <p:cNvPr id="11" name="Text 8"/>
          <p:cNvSpPr txBox="1"/>
          <p:nvPr/>
        </p:nvSpPr>
        <p:spPr>
          <a:xfrm>
            <a:off x="841248" y="2468880"/>
            <a:ext cx="1097280" cy="237744"/>
          </a:xfrm>
          <a:prstGeom prst="rect">
            <a:avLst/>
          </a:prstGeom>
          <a:noFill/>
          <a:ln/>
        </p:spPr>
        <p:txBody>
          <a:bodyPr wrap="square" lIns="0" tIns="0" rIns="0" bIns="0" rtlCol="0" anchor="ctr"/>
          <a:lstStyle/>
          <a:p>
            <a:pPr indent="0" marL="0">
              <a:buNone/>
            </a:pPr>
            <a:r>
              <a:rPr lang="en-US" sz="1200" dirty="0">
                <a:solidFill>
                  <a:srgbClr val="55655A"/>
                </a:solidFill>
                <a:latin typeface="Meiryo" pitchFamily="34" charset="0"/>
                <a:ea typeface="Meiryo" pitchFamily="34" charset="-122"/>
                <a:cs typeface="Meiryo" pitchFamily="34" charset="-120"/>
              </a:rPr>
              <a:t>分別区分</a:t>
            </a:r>
            <a:endParaRPr lang="en-US" sz="1200" dirty="0"/>
          </a:p>
        </p:txBody>
      </p:sp>
      <p:sp>
        <p:nvSpPr>
          <p:cNvPr id="12" name="Text 9"/>
          <p:cNvSpPr txBox="1"/>
          <p:nvPr/>
        </p:nvSpPr>
        <p:spPr>
          <a:xfrm>
            <a:off x="2029968" y="2468880"/>
            <a:ext cx="4297680" cy="237744"/>
          </a:xfrm>
          <a:prstGeom prst="rect">
            <a:avLst/>
          </a:prstGeom>
          <a:noFill/>
          <a:ln/>
        </p:spPr>
        <p:txBody>
          <a:bodyPr wrap="square" lIns="0" tIns="0" rIns="0" bIns="0" rtlCol="0" anchor="ctr"/>
          <a:lstStyle/>
          <a:p>
            <a:pPr indent="0" marL="0">
              <a:buNone/>
            </a:pPr>
            <a:r>
              <a:rPr lang="en-US" sz="1300" dirty="0">
                <a:solidFill>
                  <a:srgbClr val="17211A"/>
                </a:solidFill>
                <a:latin typeface="Meiryo" pitchFamily="34" charset="0"/>
                <a:ea typeface="Meiryo" pitchFamily="34" charset="-122"/>
                <a:cs typeface="Meiryo" pitchFamily="34" charset="-120"/>
              </a:rPr>
              <a:t>店舗回収協力店または小型家電</a:t>
            </a:r>
            <a:endParaRPr lang="en-US" sz="1300" dirty="0"/>
          </a:p>
        </p:txBody>
      </p:sp>
      <p:sp>
        <p:nvSpPr>
          <p:cNvPr id="13" name="Text 10"/>
          <p:cNvSpPr txBox="1"/>
          <p:nvPr/>
        </p:nvSpPr>
        <p:spPr>
          <a:xfrm>
            <a:off x="841248" y="2926080"/>
            <a:ext cx="1097280" cy="237744"/>
          </a:xfrm>
          <a:prstGeom prst="rect">
            <a:avLst/>
          </a:prstGeom>
          <a:noFill/>
          <a:ln/>
        </p:spPr>
        <p:txBody>
          <a:bodyPr wrap="square" lIns="0" tIns="0" rIns="0" bIns="0" rtlCol="0" anchor="ctr"/>
          <a:lstStyle/>
          <a:p>
            <a:pPr indent="0" marL="0">
              <a:buNone/>
            </a:pPr>
            <a:r>
              <a:rPr lang="en-US" sz="1200" dirty="0">
                <a:solidFill>
                  <a:srgbClr val="55655A"/>
                </a:solidFill>
                <a:latin typeface="Meiryo" pitchFamily="34" charset="0"/>
                <a:ea typeface="Meiryo" pitchFamily="34" charset="-122"/>
                <a:cs typeface="Meiryo" pitchFamily="34" charset="-120"/>
              </a:rPr>
              <a:t>出し方</a:t>
            </a:r>
            <a:endParaRPr lang="en-US" sz="1200" dirty="0"/>
          </a:p>
        </p:txBody>
      </p:sp>
      <p:sp>
        <p:nvSpPr>
          <p:cNvPr id="14" name="Text 11"/>
          <p:cNvSpPr txBox="1"/>
          <p:nvPr/>
        </p:nvSpPr>
        <p:spPr>
          <a:xfrm>
            <a:off x="2029968" y="2926080"/>
            <a:ext cx="4297680" cy="914400"/>
          </a:xfrm>
          <a:prstGeom prst="rect">
            <a:avLst/>
          </a:prstGeom>
          <a:noFill/>
          <a:ln/>
        </p:spPr>
        <p:txBody>
          <a:bodyPr wrap="square" lIns="0" tIns="0" rIns="0" bIns="0" rtlCol="0" anchor="ctr"/>
          <a:lstStyle/>
          <a:p>
            <a:pPr indent="0" marL="0">
              <a:lnSpc>
                <a:spcPts val="1900"/>
              </a:lnSpc>
              <a:buNone/>
            </a:pPr>
            <a:r>
              <a:rPr lang="en-US" sz="1300" dirty="0">
                <a:solidFill>
                  <a:srgbClr val="17211A"/>
                </a:solidFill>
                <a:latin typeface="Meiryo" pitchFamily="34" charset="0"/>
                <a:ea typeface="Meiryo" pitchFamily="34" charset="-122"/>
                <a:cs typeface="Meiryo" pitchFamily="34" charset="-120"/>
              </a:rPr>
              <a:t>市役所・区役所・環境事業所・新浜リサイクル</a:t>
            </a:r>
            <a:endParaRPr lang="en-US" sz="1300" dirty="0"/>
          </a:p>
          <a:p>
            <a:pPr indent="0" marL="0">
              <a:lnSpc>
                <a:spcPts val="1900"/>
              </a:lnSpc>
              <a:buNone/>
            </a:pPr>
            <a:r>
              <a:rPr lang="en-US" sz="1300" dirty="0">
                <a:solidFill>
                  <a:srgbClr val="17211A"/>
                </a:solidFill>
                <a:latin typeface="Meiryo" pitchFamily="34" charset="0"/>
                <a:ea typeface="Meiryo" pitchFamily="34" charset="-122"/>
                <a:cs typeface="Meiryo" pitchFamily="34" charset="-120"/>
              </a:rPr>
              <a:t>センターなどの携帯電話・スマートフォン専用</a:t>
            </a:r>
            <a:endParaRPr lang="en-US" sz="1300" dirty="0"/>
          </a:p>
          <a:p>
            <a:pPr indent="0" marL="0">
              <a:lnSpc>
                <a:spcPts val="1900"/>
              </a:lnSpc>
              <a:buNone/>
            </a:pPr>
            <a:r>
              <a:rPr lang="en-US" sz="1300" dirty="0">
                <a:solidFill>
                  <a:srgbClr val="17211A"/>
                </a:solidFill>
                <a:latin typeface="Meiryo" pitchFamily="34" charset="0"/>
                <a:ea typeface="Meiryo" pitchFamily="34" charset="-122"/>
                <a:cs typeface="Meiryo" pitchFamily="34" charset="-120"/>
              </a:rPr>
              <a:t>回収ボックスへ（電池は外す）</a:t>
            </a:r>
            <a:endParaRPr lang="en-US" sz="1300" dirty="0"/>
          </a:p>
        </p:txBody>
      </p:sp>
      <p:sp>
        <p:nvSpPr>
          <p:cNvPr id="15" name="Shape 12"/>
          <p:cNvSpPr/>
          <p:nvPr/>
        </p:nvSpPr>
        <p:spPr>
          <a:xfrm>
            <a:off x="841248" y="4069080"/>
            <a:ext cx="2286000" cy="384048"/>
          </a:xfrm>
          <a:prstGeom prst="roundRect">
            <a:avLst>
              <a:gd name="adj" fmla="val 47619"/>
            </a:avLst>
          </a:prstGeom>
          <a:solidFill>
            <a:srgbClr val="E4EDE5"/>
          </a:solidFill>
          <a:ln w="12700">
            <a:solidFill>
              <a:srgbClr val="333333"/>
            </a:solidFill>
            <a:prstDash val="solid"/>
          </a:ln>
        </p:spPr>
      </p:sp>
      <p:sp>
        <p:nvSpPr>
          <p:cNvPr id="16" name="Text 13"/>
          <p:cNvSpPr txBox="1"/>
          <p:nvPr/>
        </p:nvSpPr>
        <p:spPr>
          <a:xfrm>
            <a:off x="841248" y="4160520"/>
            <a:ext cx="2286000" cy="237744"/>
          </a:xfrm>
          <a:prstGeom prst="rect">
            <a:avLst/>
          </a:prstGeom>
          <a:noFill/>
          <a:ln/>
        </p:spPr>
        <p:txBody>
          <a:bodyPr wrap="square" lIns="0" tIns="0" rIns="0" bIns="0" rtlCol="0" anchor="ctr"/>
          <a:lstStyle/>
          <a:p>
            <a:pPr algn="ctr" indent="0" marL="0">
              <a:buNone/>
            </a:pPr>
            <a:r>
              <a:rPr lang="en-US" sz="1100" b="1" dirty="0">
                <a:solidFill>
                  <a:srgbClr val="25392C"/>
                </a:solidFill>
                <a:latin typeface="Meiryo" pitchFamily="34" charset="0"/>
                <a:ea typeface="Meiryo" pitchFamily="34" charset="-122"/>
                <a:cs typeface="Meiryo" pitchFamily="34" charset="-120"/>
              </a:rPr>
              <a:t>携帯・タブレット・PC回収</a:t>
            </a:r>
            <a:endParaRPr lang="en-US" sz="1100" dirty="0"/>
          </a:p>
        </p:txBody>
      </p:sp>
      <p:sp>
        <p:nvSpPr>
          <p:cNvPr id="17" name="Shape 14"/>
          <p:cNvSpPr/>
          <p:nvPr/>
        </p:nvSpPr>
        <p:spPr>
          <a:xfrm>
            <a:off x="3264408" y="4069080"/>
            <a:ext cx="1371600" cy="384048"/>
          </a:xfrm>
          <a:prstGeom prst="roundRect">
            <a:avLst>
              <a:gd name="adj" fmla="val 47619"/>
            </a:avLst>
          </a:prstGeom>
          <a:solidFill>
            <a:srgbClr val="FBF1DA"/>
          </a:solidFill>
          <a:ln w="12700">
            <a:solidFill>
              <a:srgbClr val="333333"/>
            </a:solidFill>
            <a:prstDash val="solid"/>
          </a:ln>
        </p:spPr>
      </p:sp>
      <p:sp>
        <p:nvSpPr>
          <p:cNvPr id="18" name="Text 15"/>
          <p:cNvSpPr txBox="1"/>
          <p:nvPr/>
        </p:nvSpPr>
        <p:spPr>
          <a:xfrm>
            <a:off x="3264408" y="4160520"/>
            <a:ext cx="1371600" cy="237744"/>
          </a:xfrm>
          <a:prstGeom prst="rect">
            <a:avLst/>
          </a:prstGeom>
          <a:noFill/>
          <a:ln/>
        </p:spPr>
        <p:txBody>
          <a:bodyPr wrap="square" lIns="0" tIns="0" rIns="0" bIns="0" rtlCol="0" anchor="ctr"/>
          <a:lstStyle/>
          <a:p>
            <a:pPr algn="ctr" indent="0" marL="0">
              <a:buNone/>
            </a:pPr>
            <a:r>
              <a:rPr lang="en-US" sz="1100" b="1" dirty="0">
                <a:solidFill>
                  <a:srgbClr val="B07A10"/>
                </a:solidFill>
                <a:latin typeface="Meiryo" pitchFamily="34" charset="0"/>
                <a:ea typeface="Meiryo" pitchFamily="34" charset="-122"/>
                <a:cs typeface="Meiryo" pitchFamily="34" charset="-120"/>
              </a:rPr>
              <a:t>持込が必要</a:t>
            </a:r>
            <a:endParaRPr lang="en-US" sz="1100" dirty="0"/>
          </a:p>
        </p:txBody>
      </p:sp>
      <p:sp>
        <p:nvSpPr>
          <p:cNvPr id="19" name="Shape 16"/>
          <p:cNvSpPr/>
          <p:nvPr/>
        </p:nvSpPr>
        <p:spPr>
          <a:xfrm>
            <a:off x="6903720" y="1783080"/>
            <a:ext cx="4709160" cy="1417320"/>
          </a:xfrm>
          <a:prstGeom prst="roundRect">
            <a:avLst>
              <a:gd name="adj" fmla="val 3226"/>
            </a:avLst>
          </a:prstGeom>
          <a:solidFill>
            <a:srgbClr val="E4EDE5"/>
          </a:solidFill>
          <a:ln w="12700">
            <a:solidFill>
              <a:srgbClr val="333333"/>
            </a:solidFill>
            <a:prstDash val="solid"/>
          </a:ln>
        </p:spPr>
      </p:sp>
      <p:sp>
        <p:nvSpPr>
          <p:cNvPr id="20" name="Text 17"/>
          <p:cNvSpPr txBox="1"/>
          <p:nvPr/>
        </p:nvSpPr>
        <p:spPr>
          <a:xfrm>
            <a:off x="7178040" y="1965960"/>
            <a:ext cx="420624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回収場所を出すかどうかの判定</a:t>
            </a:r>
            <a:endParaRPr lang="en-US" sz="1500" dirty="0"/>
          </a:p>
        </p:txBody>
      </p:sp>
      <p:sp>
        <p:nvSpPr>
          <p:cNvPr id="21" name="Text 18"/>
          <p:cNvSpPr txBox="1"/>
          <p:nvPr/>
        </p:nvSpPr>
        <p:spPr>
          <a:xfrm>
            <a:off x="7178040" y="2331720"/>
            <a:ext cx="4160520" cy="77724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3つの回収フラグ（充電池／携帯・タブレット・PC／その他小型家電）のいずれかが真のときだけ、位置情報の取得と地図表示を始めます。</a:t>
            </a:r>
            <a:endParaRPr lang="en-US" sz="1200" dirty="0"/>
          </a:p>
        </p:txBody>
      </p:sp>
      <p:sp>
        <p:nvSpPr>
          <p:cNvPr id="22" name="Text 19"/>
          <p:cNvSpPr txBox="1"/>
          <p:nvPr/>
        </p:nvSpPr>
        <p:spPr>
          <a:xfrm>
            <a:off x="6903720" y="3429000"/>
            <a:ext cx="4709160" cy="1737360"/>
          </a:xfrm>
          <a:prstGeom prst="rect">
            <a:avLst/>
          </a:prstGeom>
          <a:noFill/>
          <a:ln/>
        </p:spPr>
        <p:txBody>
          <a:bodyPr wrap="square" lIns="0" tIns="0" rIns="0" bIns="0" rtlCol="0" anchor="ctr"/>
          <a:lstStyle/>
          <a:p>
            <a:pPr marL="342900" indent="-342900">
              <a:lnSpc>
                <a:spcPts val="2000"/>
              </a:lnSpc>
              <a:spcAft>
                <a:spcPts val="200"/>
              </a:spcAft>
              <a:buSzPct val="100000"/>
              <a:buChar char="▪"/>
            </a:pPr>
            <a:r>
              <a:rPr lang="en-US" sz="1400" b="1" dirty="0">
                <a:solidFill>
                  <a:srgbClr val="17211A"/>
                </a:solidFill>
                <a:latin typeface="Meiryo" pitchFamily="34" charset="0"/>
                <a:ea typeface="Meiryo" pitchFamily="34" charset="-122"/>
                <a:cs typeface="Meiryo" pitchFamily="34" charset="-120"/>
              </a:rPr>
              <a:t>すべて偽の品目では地図も施設一覧も出さない</a:t>
            </a:r>
            <a:endParaRPr lang="en-US" sz="1400" dirty="0"/>
          </a:p>
          <a:p>
            <a:pPr lvl="1" indent="0" marL="0">
              <a:lnSpc>
                <a:spcPts val="2000"/>
              </a:lnSpc>
              <a:spcAft>
                <a:spcPts val="1000"/>
              </a:spcAft>
              <a:buNone/>
            </a:pPr>
            <a:r>
              <a:rPr lang="en-US" sz="1100" dirty="0">
                <a:solidFill>
                  <a:srgbClr val="55655A"/>
                </a:solidFill>
                <a:latin typeface="Meiryo" pitchFamily="34" charset="0"/>
                <a:ea typeface="Meiryo" pitchFamily="34" charset="-122"/>
                <a:cs typeface="Meiryo" pitchFamily="34" charset="-120"/>
              </a:rPr>
              <a:t>例：ソファ、生ごみ — 位置情報の確認も出ない</a:t>
            </a:r>
            <a:endParaRPr lang="en-US" sz="1400" dirty="0"/>
          </a:p>
          <a:p>
            <a:pPr marL="342900" indent="-342900">
              <a:lnSpc>
                <a:spcPts val="2000"/>
              </a:lnSpc>
              <a:spcAft>
                <a:spcPts val="1000"/>
              </a:spcAft>
              <a:buSzPct val="100000"/>
              <a:buChar char="▪"/>
            </a:pPr>
            <a:r>
              <a:rPr lang="en-US" sz="1400" b="1" dirty="0">
                <a:solidFill>
                  <a:srgbClr val="17211A"/>
                </a:solidFill>
                <a:latin typeface="Meiryo" pitchFamily="34" charset="0"/>
                <a:ea typeface="Meiryo" pitchFamily="34" charset="-122"/>
                <a:cs typeface="Meiryo" pitchFamily="34" charset="-120"/>
              </a:rPr>
              <a:t>注意事項が空欄の品目では、その欄ごと表示しない</a:t>
            </a:r>
            <a:endParaRPr lang="en-US" sz="1400" dirty="0"/>
          </a:p>
          <a:p>
            <a:pPr marL="342900" indent="-342900">
              <a:lnSpc>
                <a:spcPts val="2000"/>
              </a:lnSpc>
              <a:spcAft>
                <a:spcPts val="1000"/>
              </a:spcAft>
              <a:buSzPct val="100000"/>
              <a:buChar char="▪"/>
            </a:pPr>
            <a:r>
              <a:rPr lang="en-US" sz="1400" b="1" dirty="0">
                <a:solidFill>
                  <a:srgbClr val="17211A"/>
                </a:solidFill>
                <a:latin typeface="Meiryo" pitchFamily="34" charset="0"/>
                <a:ea typeface="Meiryo" pitchFamily="34" charset="-122"/>
                <a:cs typeface="Meiryo" pitchFamily="34" charset="-120"/>
              </a:rPr>
              <a:t>出し方が空欄なら、千葉市の公式ガイドの確認を案内</a:t>
            </a:r>
            <a:endParaRPr lang="en-US" sz="1400" dirty="0"/>
          </a:p>
        </p:txBody>
      </p:sp>
      <p:sp>
        <p:nvSpPr>
          <p:cNvPr id="23" name="Text 20"/>
          <p:cNvSpPr txBox="1"/>
          <p:nvPr/>
        </p:nvSpPr>
        <p:spPr>
          <a:xfrm>
            <a:off x="566928" y="5669280"/>
            <a:ext cx="8686800" cy="274320"/>
          </a:xfrm>
          <a:prstGeom prst="rect">
            <a:avLst/>
          </a:prstGeom>
          <a:noFill/>
          <a:ln/>
        </p:spPr>
        <p:txBody>
          <a:bodyPr wrap="square" lIns="0" tIns="0" rIns="0" bIns="0" rtlCol="0" anchor="ctr"/>
          <a:lstStyle/>
          <a:p>
            <a:pPr indent="0" marL="0">
              <a:buNone/>
            </a:pPr>
            <a:r>
              <a:rPr lang="en-US" sz="1100" dirty="0">
                <a:solidFill>
                  <a:srgbClr val="55655A"/>
                </a:solidFill>
                <a:latin typeface="Meiryo" pitchFamily="34" charset="0"/>
                <a:ea typeface="Meiryo" pitchFamily="34" charset="-122"/>
                <a:cs typeface="Meiryo" pitchFamily="34" charset="-120"/>
              </a:rPr>
              <a:t>※ 2,058品目のうち、回収区分が設定されているのは89品目です。</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566928" y="457200"/>
            <a:ext cx="8412480" cy="274320"/>
          </a:xfrm>
          <a:prstGeom prst="rect">
            <a:avLst/>
          </a:prstGeom>
          <a:noFill/>
          <a:ln/>
        </p:spPr>
        <p:txBody>
          <a:bodyPr wrap="square" lIns="0" tIns="0" rIns="0" bIns="0" rtlCol="0" anchor="ctr"/>
          <a:lstStyle/>
          <a:p>
            <a:pPr indent="0" marL="0">
              <a:buNone/>
            </a:pPr>
            <a:r>
              <a:rPr lang="en-US" sz="1200" b="1" spc="100" kern="0" dirty="0">
                <a:solidFill>
                  <a:srgbClr val="456B52"/>
                </a:solidFill>
                <a:latin typeface="Meiryo" pitchFamily="34" charset="0"/>
                <a:ea typeface="Meiryo" pitchFamily="34" charset="-122"/>
                <a:cs typeface="Meiryo" pitchFamily="34" charset="-120"/>
              </a:rPr>
              <a:t>画面 3 ／ 回収場所の案内</a:t>
            </a:r>
            <a:endParaRPr lang="en-US" sz="1200" dirty="0"/>
          </a:p>
        </p:txBody>
      </p:sp>
      <p:sp>
        <p:nvSpPr>
          <p:cNvPr id="4" name="Text 1"/>
          <p:cNvSpPr txBox="1"/>
          <p:nvPr/>
        </p:nvSpPr>
        <p:spPr>
          <a:xfrm>
            <a:off x="9613087" y="457200"/>
            <a:ext cx="2011680" cy="274320"/>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5:45 / 10:00</a:t>
            </a:r>
            <a:endParaRPr lang="en-US" sz="1100" dirty="0"/>
          </a:p>
        </p:txBody>
      </p:sp>
      <p:sp>
        <p:nvSpPr>
          <p:cNvPr id="5" name="Text 2"/>
          <p:cNvSpPr txBox="1"/>
          <p:nvPr/>
        </p:nvSpPr>
        <p:spPr>
          <a:xfrm>
            <a:off x="566928" y="804672"/>
            <a:ext cx="11057839" cy="685800"/>
          </a:xfrm>
          <a:prstGeom prst="rect">
            <a:avLst/>
          </a:prstGeom>
          <a:noFill/>
          <a:ln/>
        </p:spPr>
        <p:txBody>
          <a:bodyPr wrap="square" lIns="0" tIns="0" rIns="0" bIns="0" rtlCol="0" anchor="ctr"/>
          <a:lstStyle/>
          <a:p>
            <a:pPr indent="0" marL="0">
              <a:lnSpc>
                <a:spcPts val="3400"/>
              </a:lnSpc>
              <a:buNone/>
            </a:pPr>
            <a:r>
              <a:rPr lang="en-US" sz="2800" b="1" dirty="0">
                <a:solidFill>
                  <a:srgbClr val="17211A"/>
                </a:solidFill>
                <a:latin typeface="Meiryo" pitchFamily="34" charset="0"/>
                <a:ea typeface="Meiryo" pitchFamily="34" charset="-122"/>
                <a:cs typeface="Meiryo" pitchFamily="34" charset="-120"/>
              </a:rPr>
              <a:t>現在地から近い順に、受け入れ可能な施設だけを出す</a:t>
            </a:r>
            <a:endParaRPr lang="en-US" sz="2800" dirty="0"/>
          </a:p>
        </p:txBody>
      </p:sp>
      <p:sp>
        <p:nvSpPr>
          <p:cNvPr id="6" name="Shape 3"/>
          <p:cNvSpPr/>
          <p:nvPr/>
        </p:nvSpPr>
        <p:spPr>
          <a:xfrm>
            <a:off x="566928" y="1783080"/>
            <a:ext cx="6309360" cy="3429000"/>
          </a:xfrm>
          <a:prstGeom prst="roundRect">
            <a:avLst>
              <a:gd name="adj" fmla="val 1333"/>
            </a:avLst>
          </a:prstGeom>
          <a:solidFill>
            <a:srgbClr val="FFFFFF"/>
          </a:solidFill>
          <a:ln w="12700">
            <a:solidFill>
              <a:srgbClr val="333333"/>
            </a:solidFill>
            <a:prstDash val="solid"/>
          </a:ln>
        </p:spPr>
      </p:sp>
      <p:sp>
        <p:nvSpPr>
          <p:cNvPr id="7" name="Shape 4"/>
          <p:cNvSpPr/>
          <p:nvPr/>
        </p:nvSpPr>
        <p:spPr>
          <a:xfrm>
            <a:off x="566928" y="1783080"/>
            <a:ext cx="6309360" cy="3429000"/>
          </a:xfrm>
          <a:prstGeom prst="roundRect">
            <a:avLst>
              <a:gd name="adj" fmla="val 1333"/>
            </a:avLst>
          </a:prstGeom>
          <a:solidFill>
            <a:srgbClr val="FFFFFF"/>
          </a:solidFill>
          <a:ln w="12700">
            <a:solidFill>
              <a:srgbClr val="DCE3DA"/>
            </a:solidFill>
            <a:prstDash val="solid"/>
          </a:ln>
        </p:spPr>
      </p:sp>
      <p:sp>
        <p:nvSpPr>
          <p:cNvPr id="8" name="Shape 5"/>
          <p:cNvSpPr/>
          <p:nvPr/>
        </p:nvSpPr>
        <p:spPr>
          <a:xfrm>
            <a:off x="566928" y="1783080"/>
            <a:ext cx="6309360" cy="420624"/>
          </a:xfrm>
          <a:prstGeom prst="rect">
            <a:avLst/>
          </a:prstGeom>
          <a:solidFill>
            <a:srgbClr val="25392C"/>
          </a:solidFill>
          <a:ln w="12700">
            <a:solidFill>
              <a:srgbClr val="333333"/>
            </a:solidFill>
            <a:prstDash val="solid"/>
          </a:ln>
        </p:spPr>
      </p:sp>
      <p:sp>
        <p:nvSpPr>
          <p:cNvPr id="9" name="Text 6"/>
          <p:cNvSpPr txBox="1"/>
          <p:nvPr/>
        </p:nvSpPr>
        <p:spPr>
          <a:xfrm>
            <a:off x="768096" y="1874520"/>
            <a:ext cx="3794760" cy="237744"/>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回収場所（現在地から近い順）</a:t>
            </a:r>
            <a:endParaRPr lang="en-US" sz="1200" dirty="0"/>
          </a:p>
        </p:txBody>
      </p:sp>
      <p:sp>
        <p:nvSpPr>
          <p:cNvPr id="10" name="Text 7"/>
          <p:cNvSpPr txBox="1"/>
          <p:nvPr/>
        </p:nvSpPr>
        <p:spPr>
          <a:xfrm>
            <a:off x="4773168" y="1892808"/>
            <a:ext cx="1920240" cy="219456"/>
          </a:xfrm>
          <a:prstGeom prst="rect">
            <a:avLst/>
          </a:prstGeom>
          <a:noFill/>
          <a:ln/>
        </p:spPr>
        <p:txBody>
          <a:bodyPr wrap="square" lIns="0" tIns="0" rIns="0" bIns="0" rtlCol="0" anchor="ctr"/>
          <a:lstStyle/>
          <a:p>
            <a:pPr algn="r" indent="0" marL="0">
              <a:buNone/>
            </a:pPr>
            <a:r>
              <a:rPr lang="en-US" sz="1000" dirty="0">
                <a:solidFill>
                  <a:srgbClr val="A9BFAE"/>
                </a:solidFill>
                <a:latin typeface="Meiryo" pitchFamily="34" charset="0"/>
                <a:ea typeface="Meiryo" pitchFamily="34" charset="-122"/>
                <a:cs typeface="Meiryo" pitchFamily="34" charset="-120"/>
              </a:rPr>
              <a:t>30件から抽出</a:t>
            </a:r>
            <a:endParaRPr lang="en-US" sz="1000" dirty="0"/>
          </a:p>
        </p:txBody>
      </p:sp>
      <p:sp>
        <p:nvSpPr>
          <p:cNvPr id="11" name="Shape 8"/>
          <p:cNvSpPr/>
          <p:nvPr/>
        </p:nvSpPr>
        <p:spPr>
          <a:xfrm>
            <a:off x="768096" y="2423160"/>
            <a:ext cx="5907024" cy="713232"/>
          </a:xfrm>
          <a:prstGeom prst="rect">
            <a:avLst/>
          </a:prstGeom>
          <a:solidFill>
            <a:srgbClr val="F3F6F1"/>
          </a:solidFill>
          <a:ln w="12700">
            <a:solidFill>
              <a:srgbClr val="333333"/>
            </a:solidFill>
            <a:prstDash val="solid"/>
          </a:ln>
        </p:spPr>
      </p:sp>
      <p:sp>
        <p:nvSpPr>
          <p:cNvPr id="12" name="Shape 9"/>
          <p:cNvSpPr/>
          <p:nvPr/>
        </p:nvSpPr>
        <p:spPr>
          <a:xfrm>
            <a:off x="896112" y="2596896"/>
            <a:ext cx="347472" cy="347472"/>
          </a:xfrm>
          <a:prstGeom prst="roundRect">
            <a:avLst>
              <a:gd name="adj" fmla="val 92105"/>
            </a:avLst>
          </a:prstGeom>
          <a:solidFill>
            <a:srgbClr val="456B52"/>
          </a:solidFill>
          <a:ln w="12700">
            <a:solidFill>
              <a:srgbClr val="333333"/>
            </a:solidFill>
            <a:prstDash val="solid"/>
          </a:ln>
        </p:spPr>
      </p:sp>
      <p:sp>
        <p:nvSpPr>
          <p:cNvPr id="13" name="Text 10"/>
          <p:cNvSpPr txBox="1"/>
          <p:nvPr/>
        </p:nvSpPr>
        <p:spPr>
          <a:xfrm>
            <a:off x="896112" y="25968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14" name="Text 11"/>
          <p:cNvSpPr txBox="1"/>
          <p:nvPr/>
        </p:nvSpPr>
        <p:spPr>
          <a:xfrm>
            <a:off x="1371600" y="2514600"/>
            <a:ext cx="3657600" cy="237744"/>
          </a:xfrm>
          <a:prstGeom prst="rect">
            <a:avLst/>
          </a:prstGeom>
          <a:noFill/>
          <a:ln/>
        </p:spPr>
        <p:txBody>
          <a:bodyPr wrap="square" lIns="0" tIns="0" rIns="0" bIns="0" rtlCol="0" anchor="ctr"/>
          <a:lstStyle/>
          <a:p>
            <a:pPr indent="0" marL="0">
              <a:buNone/>
            </a:pPr>
            <a:r>
              <a:rPr lang="en-US" sz="1300" b="1" dirty="0">
                <a:solidFill>
                  <a:srgbClr val="17211A"/>
                </a:solidFill>
                <a:latin typeface="Meiryo" pitchFamily="34" charset="0"/>
                <a:ea typeface="Meiryo" pitchFamily="34" charset="-122"/>
                <a:cs typeface="Meiryo" pitchFamily="34" charset="-120"/>
              </a:rPr>
              <a:t>千葉市役所 1階ロビー</a:t>
            </a:r>
            <a:endParaRPr lang="en-US" sz="1300" dirty="0"/>
          </a:p>
        </p:txBody>
      </p:sp>
      <p:sp>
        <p:nvSpPr>
          <p:cNvPr id="15" name="Text 12"/>
          <p:cNvSpPr txBox="1"/>
          <p:nvPr/>
        </p:nvSpPr>
        <p:spPr>
          <a:xfrm>
            <a:off x="1371600" y="2807208"/>
            <a:ext cx="4206240" cy="237744"/>
          </a:xfrm>
          <a:prstGeom prst="rect">
            <a:avLst/>
          </a:prstGeom>
          <a:noFill/>
          <a:ln/>
        </p:spPr>
        <p:txBody>
          <a:bodyPr wrap="square" lIns="0" tIns="0" rIns="0" bIns="0" rtlCol="0" anchor="ctr"/>
          <a:lstStyle/>
          <a:p>
            <a:pPr indent="0" marL="0">
              <a:buNone/>
            </a:pPr>
            <a:r>
              <a:rPr lang="en-US" sz="1000" dirty="0">
                <a:solidFill>
                  <a:srgbClr val="55655A"/>
                </a:solidFill>
                <a:latin typeface="Meiryo" pitchFamily="34" charset="0"/>
                <a:ea typeface="Meiryo" pitchFamily="34" charset="-122"/>
                <a:cs typeface="Meiryo" pitchFamily="34" charset="-120"/>
              </a:rPr>
              <a:t>中央区千葉港1-1 ／ 平日9:00～17:00</a:t>
            </a:r>
            <a:endParaRPr lang="en-US" sz="1000" dirty="0"/>
          </a:p>
        </p:txBody>
      </p:sp>
      <p:sp>
        <p:nvSpPr>
          <p:cNvPr id="16" name="Text 13"/>
          <p:cNvSpPr txBox="1"/>
          <p:nvPr/>
        </p:nvSpPr>
        <p:spPr>
          <a:xfrm>
            <a:off x="5550408" y="2642616"/>
            <a:ext cx="1051560" cy="274320"/>
          </a:xfrm>
          <a:prstGeom prst="rect">
            <a:avLst/>
          </a:prstGeom>
          <a:noFill/>
          <a:ln/>
        </p:spPr>
        <p:txBody>
          <a:bodyPr wrap="square" lIns="0" tIns="0" rIns="0" bIns="0" rtlCol="0" anchor="ctr"/>
          <a:lstStyle/>
          <a:p>
            <a:pPr algn="r" indent="0" marL="0">
              <a:buNone/>
            </a:pPr>
            <a:r>
              <a:rPr lang="en-US" sz="1400" b="1" dirty="0">
                <a:solidFill>
                  <a:srgbClr val="456B52"/>
                </a:solidFill>
                <a:latin typeface="Meiryo" pitchFamily="34" charset="0"/>
                <a:ea typeface="Meiryo" pitchFamily="34" charset="-122"/>
                <a:cs typeface="Meiryo" pitchFamily="34" charset="-120"/>
              </a:rPr>
              <a:t>1.2 km</a:t>
            </a:r>
            <a:endParaRPr lang="en-US" sz="1400" dirty="0"/>
          </a:p>
        </p:txBody>
      </p:sp>
      <p:sp>
        <p:nvSpPr>
          <p:cNvPr id="17" name="Shape 14"/>
          <p:cNvSpPr/>
          <p:nvPr/>
        </p:nvSpPr>
        <p:spPr>
          <a:xfrm>
            <a:off x="768096" y="3227832"/>
            <a:ext cx="5907024" cy="713232"/>
          </a:xfrm>
          <a:prstGeom prst="rect">
            <a:avLst/>
          </a:prstGeom>
          <a:solidFill>
            <a:srgbClr val="FFFFFF"/>
          </a:solidFill>
          <a:ln w="12700">
            <a:solidFill>
              <a:srgbClr val="333333"/>
            </a:solidFill>
            <a:prstDash val="solid"/>
          </a:ln>
        </p:spPr>
      </p:sp>
      <p:sp>
        <p:nvSpPr>
          <p:cNvPr id="18" name="Shape 15"/>
          <p:cNvSpPr/>
          <p:nvPr/>
        </p:nvSpPr>
        <p:spPr>
          <a:xfrm>
            <a:off x="896112" y="3401568"/>
            <a:ext cx="347472" cy="347472"/>
          </a:xfrm>
          <a:prstGeom prst="roundRect">
            <a:avLst>
              <a:gd name="adj" fmla="val 92105"/>
            </a:avLst>
          </a:prstGeom>
          <a:solidFill>
            <a:srgbClr val="456B52"/>
          </a:solidFill>
          <a:ln w="12700">
            <a:solidFill>
              <a:srgbClr val="333333"/>
            </a:solidFill>
            <a:prstDash val="solid"/>
          </a:ln>
        </p:spPr>
      </p:sp>
      <p:sp>
        <p:nvSpPr>
          <p:cNvPr id="19" name="Text 16"/>
          <p:cNvSpPr txBox="1"/>
          <p:nvPr/>
        </p:nvSpPr>
        <p:spPr>
          <a:xfrm>
            <a:off x="896112" y="3401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20" name="Text 17"/>
          <p:cNvSpPr txBox="1"/>
          <p:nvPr/>
        </p:nvSpPr>
        <p:spPr>
          <a:xfrm>
            <a:off x="1371600" y="3319272"/>
            <a:ext cx="3657600" cy="237744"/>
          </a:xfrm>
          <a:prstGeom prst="rect">
            <a:avLst/>
          </a:prstGeom>
          <a:noFill/>
          <a:ln/>
        </p:spPr>
        <p:txBody>
          <a:bodyPr wrap="square" lIns="0" tIns="0" rIns="0" bIns="0" rtlCol="0" anchor="ctr"/>
          <a:lstStyle/>
          <a:p>
            <a:pPr indent="0" marL="0">
              <a:buNone/>
            </a:pPr>
            <a:r>
              <a:rPr lang="en-US" sz="1300" b="1" dirty="0">
                <a:solidFill>
                  <a:srgbClr val="17211A"/>
                </a:solidFill>
                <a:latin typeface="Meiryo" pitchFamily="34" charset="0"/>
                <a:ea typeface="Meiryo" pitchFamily="34" charset="-122"/>
                <a:cs typeface="Meiryo" pitchFamily="34" charset="-120"/>
              </a:rPr>
              <a:t>中央区役所 総務課前</a:t>
            </a:r>
            <a:endParaRPr lang="en-US" sz="1300" dirty="0"/>
          </a:p>
        </p:txBody>
      </p:sp>
      <p:sp>
        <p:nvSpPr>
          <p:cNvPr id="21" name="Text 18"/>
          <p:cNvSpPr txBox="1"/>
          <p:nvPr/>
        </p:nvSpPr>
        <p:spPr>
          <a:xfrm>
            <a:off x="1371600" y="3611880"/>
            <a:ext cx="4206240" cy="237744"/>
          </a:xfrm>
          <a:prstGeom prst="rect">
            <a:avLst/>
          </a:prstGeom>
          <a:noFill/>
          <a:ln/>
        </p:spPr>
        <p:txBody>
          <a:bodyPr wrap="square" lIns="0" tIns="0" rIns="0" bIns="0" rtlCol="0" anchor="ctr"/>
          <a:lstStyle/>
          <a:p>
            <a:pPr indent="0" marL="0">
              <a:buNone/>
            </a:pPr>
            <a:r>
              <a:rPr lang="en-US" sz="1000" dirty="0">
                <a:solidFill>
                  <a:srgbClr val="55655A"/>
                </a:solidFill>
                <a:latin typeface="Meiryo" pitchFamily="34" charset="0"/>
                <a:ea typeface="Meiryo" pitchFamily="34" charset="-122"/>
                <a:cs typeface="Meiryo" pitchFamily="34" charset="-120"/>
              </a:rPr>
              <a:t>中央区中央4-5-1（きぼーる11階） ／ 平日9:00～17:00</a:t>
            </a:r>
            <a:endParaRPr lang="en-US" sz="1000" dirty="0"/>
          </a:p>
        </p:txBody>
      </p:sp>
      <p:sp>
        <p:nvSpPr>
          <p:cNvPr id="22" name="Text 19"/>
          <p:cNvSpPr txBox="1"/>
          <p:nvPr/>
        </p:nvSpPr>
        <p:spPr>
          <a:xfrm>
            <a:off x="5550408" y="3447288"/>
            <a:ext cx="1051560" cy="274320"/>
          </a:xfrm>
          <a:prstGeom prst="rect">
            <a:avLst/>
          </a:prstGeom>
          <a:noFill/>
          <a:ln/>
        </p:spPr>
        <p:txBody>
          <a:bodyPr wrap="square" lIns="0" tIns="0" rIns="0" bIns="0" rtlCol="0" anchor="ctr"/>
          <a:lstStyle/>
          <a:p>
            <a:pPr algn="r" indent="0" marL="0">
              <a:buNone/>
            </a:pPr>
            <a:r>
              <a:rPr lang="en-US" sz="1400" b="1" dirty="0">
                <a:solidFill>
                  <a:srgbClr val="456B52"/>
                </a:solidFill>
                <a:latin typeface="Meiryo" pitchFamily="34" charset="0"/>
                <a:ea typeface="Meiryo" pitchFamily="34" charset="-122"/>
                <a:cs typeface="Meiryo" pitchFamily="34" charset="-120"/>
              </a:rPr>
              <a:t>2.4 km</a:t>
            </a:r>
            <a:endParaRPr lang="en-US" sz="1400" dirty="0"/>
          </a:p>
        </p:txBody>
      </p:sp>
      <p:sp>
        <p:nvSpPr>
          <p:cNvPr id="23" name="Shape 20"/>
          <p:cNvSpPr/>
          <p:nvPr/>
        </p:nvSpPr>
        <p:spPr>
          <a:xfrm>
            <a:off x="768096" y="4032504"/>
            <a:ext cx="5907024" cy="713232"/>
          </a:xfrm>
          <a:prstGeom prst="rect">
            <a:avLst/>
          </a:prstGeom>
          <a:solidFill>
            <a:srgbClr val="F3F6F1"/>
          </a:solidFill>
          <a:ln w="12700">
            <a:solidFill>
              <a:srgbClr val="333333"/>
            </a:solidFill>
            <a:prstDash val="solid"/>
          </a:ln>
        </p:spPr>
      </p:sp>
      <p:sp>
        <p:nvSpPr>
          <p:cNvPr id="24" name="Shape 21"/>
          <p:cNvSpPr/>
          <p:nvPr/>
        </p:nvSpPr>
        <p:spPr>
          <a:xfrm>
            <a:off x="896112" y="4206240"/>
            <a:ext cx="347472" cy="347472"/>
          </a:xfrm>
          <a:prstGeom prst="roundRect">
            <a:avLst>
              <a:gd name="adj" fmla="val 92105"/>
            </a:avLst>
          </a:prstGeom>
          <a:solidFill>
            <a:srgbClr val="456B52"/>
          </a:solidFill>
          <a:ln w="12700">
            <a:solidFill>
              <a:srgbClr val="333333"/>
            </a:solidFill>
            <a:prstDash val="solid"/>
          </a:ln>
        </p:spPr>
      </p:sp>
      <p:sp>
        <p:nvSpPr>
          <p:cNvPr id="25" name="Text 22"/>
          <p:cNvSpPr txBox="1"/>
          <p:nvPr/>
        </p:nvSpPr>
        <p:spPr>
          <a:xfrm>
            <a:off x="896112" y="42062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26" name="Text 23"/>
          <p:cNvSpPr txBox="1"/>
          <p:nvPr/>
        </p:nvSpPr>
        <p:spPr>
          <a:xfrm>
            <a:off x="1371600" y="4123944"/>
            <a:ext cx="3657600" cy="237744"/>
          </a:xfrm>
          <a:prstGeom prst="rect">
            <a:avLst/>
          </a:prstGeom>
          <a:noFill/>
          <a:ln/>
        </p:spPr>
        <p:txBody>
          <a:bodyPr wrap="square" lIns="0" tIns="0" rIns="0" bIns="0" rtlCol="0" anchor="ctr"/>
          <a:lstStyle/>
          <a:p>
            <a:pPr indent="0" marL="0">
              <a:buNone/>
            </a:pPr>
            <a:r>
              <a:rPr lang="en-US" sz="1300" b="1" dirty="0">
                <a:solidFill>
                  <a:srgbClr val="17211A"/>
                </a:solidFill>
                <a:latin typeface="Meiryo" pitchFamily="34" charset="0"/>
                <a:ea typeface="Meiryo" pitchFamily="34" charset="-122"/>
                <a:cs typeface="Meiryo" pitchFamily="34" charset="-120"/>
              </a:rPr>
              <a:t>中央・美浜環境事業所</a:t>
            </a:r>
            <a:endParaRPr lang="en-US" sz="1300" dirty="0"/>
          </a:p>
        </p:txBody>
      </p:sp>
      <p:sp>
        <p:nvSpPr>
          <p:cNvPr id="27" name="Text 24"/>
          <p:cNvSpPr txBox="1"/>
          <p:nvPr/>
        </p:nvSpPr>
        <p:spPr>
          <a:xfrm>
            <a:off x="1371600" y="4416552"/>
            <a:ext cx="4206240" cy="237744"/>
          </a:xfrm>
          <a:prstGeom prst="rect">
            <a:avLst/>
          </a:prstGeom>
          <a:noFill/>
          <a:ln/>
        </p:spPr>
        <p:txBody>
          <a:bodyPr wrap="square" lIns="0" tIns="0" rIns="0" bIns="0" rtlCol="0" anchor="ctr"/>
          <a:lstStyle/>
          <a:p>
            <a:pPr indent="0" marL="0">
              <a:buNone/>
            </a:pPr>
            <a:r>
              <a:rPr lang="en-US" sz="1000" dirty="0">
                <a:solidFill>
                  <a:srgbClr val="55655A"/>
                </a:solidFill>
                <a:latin typeface="Meiryo" pitchFamily="34" charset="0"/>
                <a:ea typeface="Meiryo" pitchFamily="34" charset="-122"/>
                <a:cs typeface="Meiryo" pitchFamily="34" charset="-120"/>
              </a:rPr>
              <a:t>中央区都町8-1-17 ／ 平日9:00～17:00、土曜9:00～12:00</a:t>
            </a:r>
            <a:endParaRPr lang="en-US" sz="1000" dirty="0"/>
          </a:p>
        </p:txBody>
      </p:sp>
      <p:sp>
        <p:nvSpPr>
          <p:cNvPr id="28" name="Text 25"/>
          <p:cNvSpPr txBox="1"/>
          <p:nvPr/>
        </p:nvSpPr>
        <p:spPr>
          <a:xfrm>
            <a:off x="5550408" y="4251960"/>
            <a:ext cx="1051560" cy="274320"/>
          </a:xfrm>
          <a:prstGeom prst="rect">
            <a:avLst/>
          </a:prstGeom>
          <a:noFill/>
          <a:ln/>
        </p:spPr>
        <p:txBody>
          <a:bodyPr wrap="square" lIns="0" tIns="0" rIns="0" bIns="0" rtlCol="0" anchor="ctr"/>
          <a:lstStyle/>
          <a:p>
            <a:pPr algn="r" indent="0" marL="0">
              <a:buNone/>
            </a:pPr>
            <a:r>
              <a:rPr lang="en-US" sz="1400" b="1" dirty="0">
                <a:solidFill>
                  <a:srgbClr val="456B52"/>
                </a:solidFill>
                <a:latin typeface="Meiryo" pitchFamily="34" charset="0"/>
                <a:ea typeface="Meiryo" pitchFamily="34" charset="-122"/>
                <a:cs typeface="Meiryo" pitchFamily="34" charset="-120"/>
              </a:rPr>
              <a:t>4.8 km</a:t>
            </a:r>
            <a:endParaRPr lang="en-US" sz="1400" dirty="0"/>
          </a:p>
        </p:txBody>
      </p:sp>
      <p:sp>
        <p:nvSpPr>
          <p:cNvPr id="29" name="Shape 26"/>
          <p:cNvSpPr/>
          <p:nvPr/>
        </p:nvSpPr>
        <p:spPr>
          <a:xfrm>
            <a:off x="768096" y="4636008"/>
            <a:ext cx="1371600" cy="365760"/>
          </a:xfrm>
          <a:prstGeom prst="roundRect">
            <a:avLst>
              <a:gd name="adj" fmla="val 12500"/>
            </a:avLst>
          </a:prstGeom>
          <a:solidFill>
            <a:srgbClr val="456B52"/>
          </a:solidFill>
          <a:ln w="12700">
            <a:solidFill>
              <a:srgbClr val="333333"/>
            </a:solidFill>
            <a:prstDash val="solid"/>
          </a:ln>
        </p:spPr>
      </p:sp>
      <p:sp>
        <p:nvSpPr>
          <p:cNvPr id="30" name="Text 27"/>
          <p:cNvSpPr txBox="1"/>
          <p:nvPr/>
        </p:nvSpPr>
        <p:spPr>
          <a:xfrm>
            <a:off x="768096" y="4718304"/>
            <a:ext cx="137160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地図で見る</a:t>
            </a:r>
            <a:endParaRPr lang="en-US" sz="1100" dirty="0"/>
          </a:p>
        </p:txBody>
      </p:sp>
      <p:sp>
        <p:nvSpPr>
          <p:cNvPr id="31" name="Shape 28"/>
          <p:cNvSpPr/>
          <p:nvPr/>
        </p:nvSpPr>
        <p:spPr>
          <a:xfrm>
            <a:off x="2258568" y="4636008"/>
            <a:ext cx="1920240" cy="365760"/>
          </a:xfrm>
          <a:prstGeom prst="roundRect">
            <a:avLst>
              <a:gd name="adj" fmla="val 12500"/>
            </a:avLst>
          </a:prstGeom>
          <a:solidFill>
            <a:srgbClr val="F3F6F1"/>
          </a:solidFill>
          <a:ln w="12700">
            <a:solidFill>
              <a:srgbClr val="456B52"/>
            </a:solidFill>
            <a:prstDash val="solid"/>
          </a:ln>
        </p:spPr>
      </p:sp>
      <p:sp>
        <p:nvSpPr>
          <p:cNvPr id="32" name="Text 29"/>
          <p:cNvSpPr txBox="1"/>
          <p:nvPr/>
        </p:nvSpPr>
        <p:spPr>
          <a:xfrm>
            <a:off x="2258568" y="4718304"/>
            <a:ext cx="1920240" cy="237744"/>
          </a:xfrm>
          <a:prstGeom prst="rect">
            <a:avLst/>
          </a:prstGeom>
          <a:noFill/>
          <a:ln/>
        </p:spPr>
        <p:txBody>
          <a:bodyPr wrap="square" lIns="0" tIns="0" rIns="0" bIns="0" rtlCol="0" anchor="ctr"/>
          <a:lstStyle/>
          <a:p>
            <a:pPr algn="ctr" indent="0" marL="0">
              <a:buNone/>
            </a:pPr>
            <a:r>
              <a:rPr lang="en-US" sz="1100" b="1" dirty="0">
                <a:solidFill>
                  <a:srgbClr val="25392C"/>
                </a:solidFill>
                <a:latin typeface="Meiryo" pitchFamily="34" charset="0"/>
                <a:ea typeface="Meiryo" pitchFamily="34" charset="-122"/>
                <a:cs typeface="Meiryo" pitchFamily="34" charset="-120"/>
              </a:rPr>
              <a:t>Googleマップで経路</a:t>
            </a:r>
            <a:endParaRPr lang="en-US" sz="1100" dirty="0"/>
          </a:p>
        </p:txBody>
      </p:sp>
      <p:sp>
        <p:nvSpPr>
          <p:cNvPr id="33" name="Text 30"/>
          <p:cNvSpPr txBox="1"/>
          <p:nvPr/>
        </p:nvSpPr>
        <p:spPr>
          <a:xfrm>
            <a:off x="7178040" y="1920240"/>
            <a:ext cx="4434840" cy="3017520"/>
          </a:xfrm>
          <a:prstGeom prst="rect">
            <a:avLst/>
          </a:prstGeom>
          <a:noFill/>
          <a:ln/>
        </p:spPr>
        <p:txBody>
          <a:bodyPr wrap="square" lIns="0" tIns="0" rIns="0" bIns="0" rtlCol="0" anchor="ctr"/>
          <a:lstStyle/>
          <a:p>
            <a:pPr marL="342900" indent="-342900">
              <a:lnSpc>
                <a:spcPts val="2000"/>
              </a:lnSpc>
              <a:spcAft>
                <a:spcPts val="200"/>
              </a:spcAft>
              <a:buSzPct val="100000"/>
              <a:buChar char="▪"/>
            </a:pPr>
            <a:r>
              <a:rPr lang="en-US" sz="1300" b="1" dirty="0">
                <a:solidFill>
                  <a:srgbClr val="17211A"/>
                </a:solidFill>
                <a:latin typeface="Meiryo" pitchFamily="34" charset="0"/>
                <a:ea typeface="Meiryo" pitchFamily="34" charset="-122"/>
                <a:cs typeface="Meiryo" pitchFamily="34" charset="-120"/>
              </a:rPr>
              <a:t>その品目を受け入れる施設だけを抽出</a:t>
            </a:r>
            <a:endParaRPr lang="en-US" sz="1300" dirty="0"/>
          </a:p>
          <a:p>
            <a:pPr lvl="1" indent="0" marL="0">
              <a:lnSpc>
                <a:spcPts val="2000"/>
              </a:lnSpc>
              <a:spcAft>
                <a:spcPts val="1000"/>
              </a:spcAft>
              <a:buNone/>
            </a:pPr>
            <a:r>
              <a:rPr lang="en-US" sz="1000" dirty="0">
                <a:solidFill>
                  <a:srgbClr val="55655A"/>
                </a:solidFill>
                <a:latin typeface="Meiryo" pitchFamily="34" charset="0"/>
                <a:ea typeface="Meiryo" pitchFamily="34" charset="-122"/>
                <a:cs typeface="Meiryo" pitchFamily="34" charset="-120"/>
              </a:rPr>
              <a:t>回収種別のフラグをOR条件で照合</a:t>
            </a:r>
            <a:endParaRPr lang="en-US" sz="1300" dirty="0"/>
          </a:p>
          <a:p>
            <a:pPr marL="342900" indent="-342900">
              <a:lnSpc>
                <a:spcPts val="2000"/>
              </a:lnSpc>
              <a:spcAft>
                <a:spcPts val="200"/>
              </a:spcAft>
              <a:buSzPct val="100000"/>
              <a:buChar char="▪"/>
            </a:pPr>
            <a:r>
              <a:rPr lang="en-US" sz="1300" b="1" dirty="0">
                <a:solidFill>
                  <a:srgbClr val="17211A"/>
                </a:solidFill>
                <a:latin typeface="Meiryo" pitchFamily="34" charset="0"/>
                <a:ea typeface="Meiryo" pitchFamily="34" charset="-122"/>
                <a:cs typeface="Meiryo" pitchFamily="34" charset="-120"/>
              </a:rPr>
              <a:t>直線距離をHaversine式で計算し、近い順に並べる</a:t>
            </a:r>
            <a:endParaRPr lang="en-US" sz="1300" dirty="0"/>
          </a:p>
          <a:p>
            <a:pPr lvl="1" indent="0" marL="0">
              <a:lnSpc>
                <a:spcPts val="2000"/>
              </a:lnSpc>
              <a:spcAft>
                <a:spcPts val="1000"/>
              </a:spcAft>
              <a:buNone/>
            </a:pPr>
            <a:r>
              <a:rPr lang="en-US" sz="1000" dirty="0">
                <a:solidFill>
                  <a:srgbClr val="55655A"/>
                </a:solidFill>
                <a:latin typeface="Meiryo" pitchFamily="34" charset="0"/>
                <a:ea typeface="Meiryo" pitchFamily="34" charset="-122"/>
                <a:cs typeface="Meiryo" pitchFamily="34" charset="-120"/>
              </a:rPr>
              <a:t>APIは小数第3位まで、画面は小数第1位まで</a:t>
            </a:r>
            <a:endParaRPr lang="en-US" sz="1300" dirty="0"/>
          </a:p>
          <a:p>
            <a:pPr marL="342900" indent="-342900">
              <a:lnSpc>
                <a:spcPts val="2000"/>
              </a:lnSpc>
              <a:spcAft>
                <a:spcPts val="200"/>
              </a:spcAft>
              <a:buSzPct val="100000"/>
              <a:buChar char="▪"/>
            </a:pPr>
            <a:r>
              <a:rPr lang="en-US" sz="1300" b="1" dirty="0">
                <a:solidFill>
                  <a:srgbClr val="17211A"/>
                </a:solidFill>
                <a:latin typeface="Meiryo" pitchFamily="34" charset="0"/>
                <a:ea typeface="Meiryo" pitchFamily="34" charset="-122"/>
                <a:cs typeface="Meiryo" pitchFamily="34" charset="-120"/>
              </a:rPr>
              <a:t>「地図で見る」で地図へスクロールし、吹き出しを開く</a:t>
            </a:r>
            <a:endParaRPr lang="en-US" sz="1300" dirty="0"/>
          </a:p>
          <a:p>
            <a:pPr lvl="1" indent="0" marL="0">
              <a:lnSpc>
                <a:spcPts val="2000"/>
              </a:lnSpc>
              <a:spcAft>
                <a:spcPts val="1000"/>
              </a:spcAft>
              <a:buNone/>
            </a:pPr>
            <a:r>
              <a:rPr lang="en-US" sz="1000" dirty="0">
                <a:solidFill>
                  <a:srgbClr val="55655A"/>
                </a:solidFill>
                <a:latin typeface="Meiryo" pitchFamily="34" charset="0"/>
                <a:ea typeface="Meiryo" pitchFamily="34" charset="-122"/>
                <a:cs typeface="Meiryo" pitchFamily="34" charset="-120"/>
              </a:rPr>
              <a:t>地図はLeaflet＋OpenStreetMap</a:t>
            </a:r>
            <a:endParaRPr lang="en-US" sz="1300" dirty="0"/>
          </a:p>
          <a:p>
            <a:pPr marL="342900" indent="-342900">
              <a:lnSpc>
                <a:spcPts val="2000"/>
              </a:lnSpc>
              <a:spcAft>
                <a:spcPts val="1000"/>
              </a:spcAft>
              <a:buSzPct val="100000"/>
              <a:buChar char="▪"/>
            </a:pPr>
            <a:r>
              <a:rPr lang="en-US" sz="1300" b="1" dirty="0">
                <a:solidFill>
                  <a:srgbClr val="17211A"/>
                </a:solidFill>
                <a:latin typeface="Meiryo" pitchFamily="34" charset="0"/>
                <a:ea typeface="Meiryo" pitchFamily="34" charset="-122"/>
                <a:cs typeface="Meiryo" pitchFamily="34" charset="-120"/>
              </a:rPr>
              <a:t>「Googleマップで経路」は緯度経度を目的地に別タブで開く</a:t>
            </a:r>
            <a:endParaRPr lang="en-US" sz="1300" dirty="0"/>
          </a:p>
        </p:txBody>
      </p:sp>
      <p:sp>
        <p:nvSpPr>
          <p:cNvPr id="34" name="Text 31"/>
          <p:cNvSpPr txBox="1"/>
          <p:nvPr/>
        </p:nvSpPr>
        <p:spPr>
          <a:xfrm>
            <a:off x="566928" y="5669280"/>
            <a:ext cx="8686800" cy="274320"/>
          </a:xfrm>
          <a:prstGeom prst="rect">
            <a:avLst/>
          </a:prstGeom>
          <a:noFill/>
          <a:ln/>
        </p:spPr>
        <p:txBody>
          <a:bodyPr wrap="square" lIns="0" tIns="0" rIns="0" bIns="0" rtlCol="0" anchor="ctr"/>
          <a:lstStyle/>
          <a:p>
            <a:pPr indent="0" marL="0">
              <a:buNone/>
            </a:pPr>
            <a:r>
              <a:rPr lang="en-US" sz="1100" dirty="0">
                <a:solidFill>
                  <a:srgbClr val="55655A"/>
                </a:solidFill>
                <a:latin typeface="Meiryo" pitchFamily="34" charset="0"/>
                <a:ea typeface="Meiryo" pitchFamily="34" charset="-122"/>
                <a:cs typeface="Meiryo" pitchFamily="34" charset="-120"/>
              </a:rPr>
              <a:t>※ 表示は直線距離です。道路に沿った距離や所要時間は出しません。</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566928" y="457200"/>
            <a:ext cx="8412480" cy="274320"/>
          </a:xfrm>
          <a:prstGeom prst="rect">
            <a:avLst/>
          </a:prstGeom>
          <a:noFill/>
          <a:ln/>
        </p:spPr>
        <p:txBody>
          <a:bodyPr wrap="square" lIns="0" tIns="0" rIns="0" bIns="0" rtlCol="0" anchor="ctr"/>
          <a:lstStyle/>
          <a:p>
            <a:pPr indent="0" marL="0">
              <a:buNone/>
            </a:pPr>
            <a:r>
              <a:rPr lang="en-US" sz="1200" b="1" spc="100" kern="0" dirty="0">
                <a:solidFill>
                  <a:srgbClr val="456B52"/>
                </a:solidFill>
                <a:latin typeface="Meiryo" pitchFamily="34" charset="0"/>
                <a:ea typeface="Meiryo" pitchFamily="34" charset="-122"/>
                <a:cs typeface="Meiryo" pitchFamily="34" charset="-120"/>
              </a:rPr>
              <a:t>システム構成</a:t>
            </a:r>
            <a:endParaRPr lang="en-US" sz="1200" dirty="0"/>
          </a:p>
        </p:txBody>
      </p:sp>
      <p:sp>
        <p:nvSpPr>
          <p:cNvPr id="4" name="Text 1"/>
          <p:cNvSpPr txBox="1"/>
          <p:nvPr/>
        </p:nvSpPr>
        <p:spPr>
          <a:xfrm>
            <a:off x="9613087" y="457200"/>
            <a:ext cx="2011680" cy="274320"/>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6:45 / 10:00</a:t>
            </a:r>
            <a:endParaRPr lang="en-US" sz="1100" dirty="0"/>
          </a:p>
        </p:txBody>
      </p:sp>
      <p:sp>
        <p:nvSpPr>
          <p:cNvPr id="5" name="Text 2"/>
          <p:cNvSpPr txBox="1"/>
          <p:nvPr/>
        </p:nvSpPr>
        <p:spPr>
          <a:xfrm>
            <a:off x="566928" y="804672"/>
            <a:ext cx="11057839" cy="685800"/>
          </a:xfrm>
          <a:prstGeom prst="rect">
            <a:avLst/>
          </a:prstGeom>
          <a:noFill/>
          <a:ln/>
        </p:spPr>
        <p:txBody>
          <a:bodyPr wrap="square" lIns="0" tIns="0" rIns="0" bIns="0" rtlCol="0" anchor="ctr"/>
          <a:lstStyle/>
          <a:p>
            <a:pPr indent="0" marL="0">
              <a:lnSpc>
                <a:spcPts val="3400"/>
              </a:lnSpc>
              <a:buNone/>
            </a:pPr>
            <a:r>
              <a:rPr lang="en-US" sz="2800" b="1" dirty="0">
                <a:solidFill>
                  <a:srgbClr val="17211A"/>
                </a:solidFill>
                <a:latin typeface="Meiryo" pitchFamily="34" charset="0"/>
                <a:ea typeface="Meiryo" pitchFamily="34" charset="-122"/>
                <a:cs typeface="Meiryo" pitchFamily="34" charset="-120"/>
              </a:rPr>
              <a:t>コマンド1つで、WebとデータベースがDockerで立ち上がる</a:t>
            </a:r>
            <a:endParaRPr lang="en-US" sz="2800" dirty="0"/>
          </a:p>
        </p:txBody>
      </p:sp>
      <p:sp>
        <p:nvSpPr>
          <p:cNvPr id="6" name="Shape 3"/>
          <p:cNvSpPr/>
          <p:nvPr/>
        </p:nvSpPr>
        <p:spPr>
          <a:xfrm>
            <a:off x="566928" y="1828800"/>
            <a:ext cx="3291840" cy="1920240"/>
          </a:xfrm>
          <a:prstGeom prst="roundRect">
            <a:avLst>
              <a:gd name="adj" fmla="val 2381"/>
            </a:avLst>
          </a:prstGeom>
          <a:solidFill>
            <a:srgbClr val="F3F6F1"/>
          </a:solidFill>
          <a:ln w="12700">
            <a:solidFill>
              <a:srgbClr val="333333"/>
            </a:solidFill>
            <a:prstDash val="solid"/>
          </a:ln>
        </p:spPr>
      </p:sp>
      <p:sp>
        <p:nvSpPr>
          <p:cNvPr id="7" name="Text 4"/>
          <p:cNvSpPr txBox="1"/>
          <p:nvPr/>
        </p:nvSpPr>
        <p:spPr>
          <a:xfrm>
            <a:off x="841248" y="2057400"/>
            <a:ext cx="2743200" cy="274320"/>
          </a:xfrm>
          <a:prstGeom prst="rect">
            <a:avLst/>
          </a:prstGeom>
          <a:noFill/>
          <a:ln/>
        </p:spPr>
        <p:txBody>
          <a:bodyPr wrap="square" lIns="0" tIns="0" rIns="0" bIns="0" rtlCol="0" anchor="ctr"/>
          <a:lstStyle/>
          <a:p>
            <a:pPr indent="0" marL="0">
              <a:buNone/>
            </a:pPr>
            <a:r>
              <a:rPr lang="en-US" sz="1700" b="1" dirty="0">
                <a:solidFill>
                  <a:srgbClr val="25392C"/>
                </a:solidFill>
                <a:latin typeface="Meiryo" pitchFamily="34" charset="0"/>
                <a:ea typeface="Meiryo" pitchFamily="34" charset="-122"/>
                <a:cs typeface="Meiryo" pitchFamily="34" charset="-120"/>
              </a:rPr>
              <a:t>ブラウザ</a:t>
            </a:r>
            <a:endParaRPr lang="en-US" sz="1700" dirty="0"/>
          </a:p>
        </p:txBody>
      </p:sp>
      <p:sp>
        <p:nvSpPr>
          <p:cNvPr id="8" name="Text 5"/>
          <p:cNvSpPr txBox="1"/>
          <p:nvPr/>
        </p:nvSpPr>
        <p:spPr>
          <a:xfrm>
            <a:off x="841248" y="2487168"/>
            <a:ext cx="2743200" cy="100584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Leaflet 1.9.4</a:t>
            </a:r>
            <a:endParaRPr lang="en-US" sz="1200" dirty="0"/>
          </a:p>
          <a:p>
            <a:pPr indent="0" marL="0">
              <a:lnSpc>
                <a:spcPts val="1800"/>
              </a:lnSpc>
              <a:buNone/>
            </a:pPr>
            <a:r>
              <a:rPr lang="en-US" sz="1200" dirty="0">
                <a:solidFill>
                  <a:srgbClr val="55655A"/>
                </a:solidFill>
                <a:latin typeface="Meiryo" pitchFamily="34" charset="0"/>
                <a:ea typeface="Meiryo" pitchFamily="34" charset="-122"/>
                <a:cs typeface="Meiryo" pitchFamily="34" charset="-120"/>
              </a:rPr>
              <a:t>OpenStreetMap</a:t>
            </a:r>
            <a:endParaRPr lang="en-US" sz="1200" dirty="0"/>
          </a:p>
          <a:p>
            <a:pPr indent="0" marL="0">
              <a:lnSpc>
                <a:spcPts val="1800"/>
              </a:lnSpc>
              <a:buNone/>
            </a:pPr>
            <a:r>
              <a:rPr lang="en-US" sz="1200" dirty="0">
                <a:solidFill>
                  <a:srgbClr val="55655A"/>
                </a:solidFill>
                <a:latin typeface="Meiryo" pitchFamily="34" charset="0"/>
                <a:ea typeface="Meiryo" pitchFamily="34" charset="-122"/>
                <a:cs typeface="Meiryo" pitchFamily="34" charset="-120"/>
              </a:rPr>
              <a:t>Geolocation API</a:t>
            </a:r>
            <a:endParaRPr lang="en-US" sz="1200" dirty="0"/>
          </a:p>
        </p:txBody>
      </p:sp>
      <p:sp>
        <p:nvSpPr>
          <p:cNvPr id="9" name="Text 6"/>
          <p:cNvSpPr txBox="1"/>
          <p:nvPr/>
        </p:nvSpPr>
        <p:spPr>
          <a:xfrm>
            <a:off x="3858768" y="2606040"/>
            <a:ext cx="685800" cy="274320"/>
          </a:xfrm>
          <a:prstGeom prst="rect">
            <a:avLst/>
          </a:prstGeom>
          <a:noFill/>
          <a:ln/>
        </p:spPr>
        <p:txBody>
          <a:bodyPr wrap="square" lIns="0" tIns="0" rIns="0" bIns="0" rtlCol="0" anchor="ctr"/>
          <a:lstStyle/>
          <a:p>
            <a:pPr algn="ctr" indent="0" marL="0">
              <a:buNone/>
            </a:pPr>
            <a:r>
              <a:rPr lang="en-US" sz="1200" dirty="0">
                <a:solidFill>
                  <a:srgbClr val="456B52"/>
                </a:solidFill>
                <a:latin typeface="Meiryo" pitchFamily="34" charset="0"/>
                <a:ea typeface="Meiryo" pitchFamily="34" charset="-122"/>
                <a:cs typeface="Meiryo" pitchFamily="34" charset="-120"/>
              </a:rPr>
              <a:t>◀▶</a:t>
            </a:r>
            <a:endParaRPr lang="en-US" sz="1200" dirty="0"/>
          </a:p>
        </p:txBody>
      </p:sp>
      <p:sp>
        <p:nvSpPr>
          <p:cNvPr id="10" name="Text 7"/>
          <p:cNvSpPr txBox="1"/>
          <p:nvPr/>
        </p:nvSpPr>
        <p:spPr>
          <a:xfrm>
            <a:off x="3858768" y="2926080"/>
            <a:ext cx="685800" cy="237744"/>
          </a:xfrm>
          <a:prstGeom prst="rect">
            <a:avLst/>
          </a:prstGeom>
          <a:noFill/>
          <a:ln/>
        </p:spPr>
        <p:txBody>
          <a:bodyPr wrap="square" lIns="0" tIns="0" rIns="0" bIns="0" rtlCol="0" anchor="ctr"/>
          <a:lstStyle/>
          <a:p>
            <a:pPr algn="ctr" indent="0" marL="0">
              <a:buNone/>
            </a:pPr>
            <a:r>
              <a:rPr lang="en-US" sz="900" dirty="0">
                <a:solidFill>
                  <a:srgbClr val="55655A"/>
                </a:solidFill>
                <a:latin typeface="Meiryo" pitchFamily="34" charset="0"/>
                <a:ea typeface="Meiryo" pitchFamily="34" charset="-122"/>
                <a:cs typeface="Meiryo" pitchFamily="34" charset="-120"/>
              </a:rPr>
              <a:t>HTTP</a:t>
            </a:r>
            <a:endParaRPr lang="en-US" sz="900" dirty="0"/>
          </a:p>
        </p:txBody>
      </p:sp>
      <p:sp>
        <p:nvSpPr>
          <p:cNvPr id="11" name="Shape 8"/>
          <p:cNvSpPr/>
          <p:nvPr/>
        </p:nvSpPr>
        <p:spPr>
          <a:xfrm>
            <a:off x="4544568" y="1828800"/>
            <a:ext cx="3291840" cy="1920240"/>
          </a:xfrm>
          <a:prstGeom prst="roundRect">
            <a:avLst>
              <a:gd name="adj" fmla="val 2381"/>
            </a:avLst>
          </a:prstGeom>
          <a:solidFill>
            <a:srgbClr val="E4EDE5"/>
          </a:solidFill>
          <a:ln w="12700">
            <a:solidFill>
              <a:srgbClr val="333333"/>
            </a:solidFill>
            <a:prstDash val="solid"/>
          </a:ln>
        </p:spPr>
      </p:sp>
      <p:sp>
        <p:nvSpPr>
          <p:cNvPr id="12" name="Text 9"/>
          <p:cNvSpPr txBox="1"/>
          <p:nvPr/>
        </p:nvSpPr>
        <p:spPr>
          <a:xfrm>
            <a:off x="4818888" y="2057400"/>
            <a:ext cx="2743200" cy="274320"/>
          </a:xfrm>
          <a:prstGeom prst="rect">
            <a:avLst/>
          </a:prstGeom>
          <a:noFill/>
          <a:ln/>
        </p:spPr>
        <p:txBody>
          <a:bodyPr wrap="square" lIns="0" tIns="0" rIns="0" bIns="0" rtlCol="0" anchor="ctr"/>
          <a:lstStyle/>
          <a:p>
            <a:pPr indent="0" marL="0">
              <a:buNone/>
            </a:pPr>
            <a:r>
              <a:rPr lang="en-US" sz="1700" b="1" dirty="0">
                <a:solidFill>
                  <a:srgbClr val="25392C"/>
                </a:solidFill>
                <a:latin typeface="Meiryo" pitchFamily="34" charset="0"/>
                <a:ea typeface="Meiryo" pitchFamily="34" charset="-122"/>
                <a:cs typeface="Meiryo" pitchFamily="34" charset="-120"/>
              </a:rPr>
              <a:t>Webコンテナ</a:t>
            </a:r>
            <a:endParaRPr lang="en-US" sz="1700" dirty="0"/>
          </a:p>
        </p:txBody>
      </p:sp>
      <p:sp>
        <p:nvSpPr>
          <p:cNvPr id="13" name="Text 10"/>
          <p:cNvSpPr txBox="1"/>
          <p:nvPr/>
        </p:nvSpPr>
        <p:spPr>
          <a:xfrm>
            <a:off x="4818888" y="2487168"/>
            <a:ext cx="2743200" cy="100584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Node.js 20 / Express 5.2.1</a:t>
            </a:r>
            <a:endParaRPr lang="en-US" sz="1200" dirty="0"/>
          </a:p>
          <a:p>
            <a:pPr indent="0" marL="0">
              <a:lnSpc>
                <a:spcPts val="1800"/>
              </a:lnSpc>
              <a:buNone/>
            </a:pPr>
            <a:r>
              <a:rPr lang="en-US" sz="1200" dirty="0">
                <a:solidFill>
                  <a:srgbClr val="55655A"/>
                </a:solidFill>
                <a:latin typeface="Meiryo" pitchFamily="34" charset="0"/>
                <a:ea typeface="Meiryo" pitchFamily="34" charset="-122"/>
                <a:cs typeface="Meiryo" pitchFamily="34" charset="-120"/>
              </a:rPr>
              <a:t>EJSでHTMLを生成</a:t>
            </a:r>
            <a:endParaRPr lang="en-US" sz="1200" dirty="0"/>
          </a:p>
          <a:p>
            <a:pPr indent="0" marL="0">
              <a:lnSpc>
                <a:spcPts val="1800"/>
              </a:lnSpc>
              <a:buNone/>
            </a:pPr>
            <a:r>
              <a:rPr lang="en-US" sz="1200" dirty="0">
                <a:solidFill>
                  <a:srgbClr val="55655A"/>
                </a:solidFill>
                <a:latin typeface="Meiryo" pitchFamily="34" charset="0"/>
                <a:ea typeface="Meiryo" pitchFamily="34" charset="-122"/>
                <a:cs typeface="Meiryo" pitchFamily="34" charset="-120"/>
              </a:rPr>
              <a:t>回収場所API</a:t>
            </a:r>
            <a:endParaRPr lang="en-US" sz="1200" dirty="0"/>
          </a:p>
        </p:txBody>
      </p:sp>
      <p:sp>
        <p:nvSpPr>
          <p:cNvPr id="14" name="Text 11"/>
          <p:cNvSpPr txBox="1"/>
          <p:nvPr/>
        </p:nvSpPr>
        <p:spPr>
          <a:xfrm>
            <a:off x="7836408" y="2606040"/>
            <a:ext cx="685800" cy="274320"/>
          </a:xfrm>
          <a:prstGeom prst="rect">
            <a:avLst/>
          </a:prstGeom>
          <a:noFill/>
          <a:ln/>
        </p:spPr>
        <p:txBody>
          <a:bodyPr wrap="square" lIns="0" tIns="0" rIns="0" bIns="0" rtlCol="0" anchor="ctr"/>
          <a:lstStyle/>
          <a:p>
            <a:pPr algn="ctr" indent="0" marL="0">
              <a:buNone/>
            </a:pPr>
            <a:r>
              <a:rPr lang="en-US" sz="1200" dirty="0">
                <a:solidFill>
                  <a:srgbClr val="456B52"/>
                </a:solidFill>
                <a:latin typeface="Meiryo" pitchFamily="34" charset="0"/>
                <a:ea typeface="Meiryo" pitchFamily="34" charset="-122"/>
                <a:cs typeface="Meiryo" pitchFamily="34" charset="-120"/>
              </a:rPr>
              <a:t>◀▶</a:t>
            </a:r>
            <a:endParaRPr lang="en-US" sz="1200" dirty="0"/>
          </a:p>
        </p:txBody>
      </p:sp>
      <p:sp>
        <p:nvSpPr>
          <p:cNvPr id="15" name="Text 12"/>
          <p:cNvSpPr txBox="1"/>
          <p:nvPr/>
        </p:nvSpPr>
        <p:spPr>
          <a:xfrm>
            <a:off x="7836408" y="2926080"/>
            <a:ext cx="685800" cy="237744"/>
          </a:xfrm>
          <a:prstGeom prst="rect">
            <a:avLst/>
          </a:prstGeom>
          <a:noFill/>
          <a:ln/>
        </p:spPr>
        <p:txBody>
          <a:bodyPr wrap="square" lIns="0" tIns="0" rIns="0" bIns="0" rtlCol="0" anchor="ctr"/>
          <a:lstStyle/>
          <a:p>
            <a:pPr algn="ctr" indent="0" marL="0">
              <a:buNone/>
            </a:pPr>
            <a:r>
              <a:rPr lang="en-US" sz="900" dirty="0">
                <a:solidFill>
                  <a:srgbClr val="55655A"/>
                </a:solidFill>
                <a:latin typeface="Meiryo" pitchFamily="34" charset="0"/>
                <a:ea typeface="Meiryo" pitchFamily="34" charset="-122"/>
                <a:cs typeface="Meiryo" pitchFamily="34" charset="-120"/>
              </a:rPr>
              <a:t>mysql2</a:t>
            </a:r>
            <a:endParaRPr lang="en-US" sz="900" dirty="0"/>
          </a:p>
        </p:txBody>
      </p:sp>
      <p:sp>
        <p:nvSpPr>
          <p:cNvPr id="16" name="Shape 13"/>
          <p:cNvSpPr/>
          <p:nvPr/>
        </p:nvSpPr>
        <p:spPr>
          <a:xfrm>
            <a:off x="8522208" y="1828800"/>
            <a:ext cx="3291840" cy="1920240"/>
          </a:xfrm>
          <a:prstGeom prst="roundRect">
            <a:avLst>
              <a:gd name="adj" fmla="val 2381"/>
            </a:avLst>
          </a:prstGeom>
          <a:solidFill>
            <a:srgbClr val="E4EDE5"/>
          </a:solidFill>
          <a:ln w="12700">
            <a:solidFill>
              <a:srgbClr val="333333"/>
            </a:solidFill>
            <a:prstDash val="solid"/>
          </a:ln>
        </p:spPr>
      </p:sp>
      <p:sp>
        <p:nvSpPr>
          <p:cNvPr id="17" name="Text 14"/>
          <p:cNvSpPr txBox="1"/>
          <p:nvPr/>
        </p:nvSpPr>
        <p:spPr>
          <a:xfrm>
            <a:off x="8796528" y="2057400"/>
            <a:ext cx="2743200" cy="274320"/>
          </a:xfrm>
          <a:prstGeom prst="rect">
            <a:avLst/>
          </a:prstGeom>
          <a:noFill/>
          <a:ln/>
        </p:spPr>
        <p:txBody>
          <a:bodyPr wrap="square" lIns="0" tIns="0" rIns="0" bIns="0" rtlCol="0" anchor="ctr"/>
          <a:lstStyle/>
          <a:p>
            <a:pPr indent="0" marL="0">
              <a:buNone/>
            </a:pPr>
            <a:r>
              <a:rPr lang="en-US" sz="1700" b="1" dirty="0">
                <a:solidFill>
                  <a:srgbClr val="25392C"/>
                </a:solidFill>
                <a:latin typeface="Meiryo" pitchFamily="34" charset="0"/>
                <a:ea typeface="Meiryo" pitchFamily="34" charset="-122"/>
                <a:cs typeface="Meiryo" pitchFamily="34" charset="-120"/>
              </a:rPr>
              <a:t>DBコンテナ</a:t>
            </a:r>
            <a:endParaRPr lang="en-US" sz="1700" dirty="0"/>
          </a:p>
        </p:txBody>
      </p:sp>
      <p:sp>
        <p:nvSpPr>
          <p:cNvPr id="18" name="Text 15"/>
          <p:cNvSpPr txBox="1"/>
          <p:nvPr/>
        </p:nvSpPr>
        <p:spPr>
          <a:xfrm>
            <a:off x="8796528" y="2487168"/>
            <a:ext cx="2743200" cy="100584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MySQL 8.4</a:t>
            </a:r>
            <a:endParaRPr lang="en-US" sz="1200" dirty="0"/>
          </a:p>
          <a:p>
            <a:pPr indent="0" marL="0">
              <a:lnSpc>
                <a:spcPts val="1800"/>
              </a:lnSpc>
              <a:buNone/>
            </a:pPr>
            <a:r>
              <a:rPr lang="en-US" sz="1200" dirty="0">
                <a:solidFill>
                  <a:srgbClr val="55655A"/>
                </a:solidFill>
                <a:latin typeface="Meiryo" pitchFamily="34" charset="0"/>
                <a:ea typeface="Meiryo" pitchFamily="34" charset="-122"/>
                <a:cs typeface="Meiryo" pitchFamily="34" charset="-120"/>
              </a:rPr>
              <a:t>item：2,058行</a:t>
            </a:r>
            <a:endParaRPr lang="en-US" sz="1200" dirty="0"/>
          </a:p>
          <a:p>
            <a:pPr indent="0" marL="0">
              <a:lnSpc>
                <a:spcPts val="1800"/>
              </a:lnSpc>
              <a:buNone/>
            </a:pPr>
            <a:r>
              <a:rPr lang="en-US" sz="1200" dirty="0">
                <a:solidFill>
                  <a:srgbClr val="55655A"/>
                </a:solidFill>
                <a:latin typeface="Meiryo" pitchFamily="34" charset="0"/>
                <a:ea typeface="Meiryo" pitchFamily="34" charset="-122"/>
                <a:cs typeface="Meiryo" pitchFamily="34" charset="-120"/>
              </a:rPr>
              <a:t>recycle_location：30行</a:t>
            </a:r>
            <a:endParaRPr lang="en-US" sz="1200" dirty="0"/>
          </a:p>
        </p:txBody>
      </p:sp>
      <p:sp>
        <p:nvSpPr>
          <p:cNvPr id="19" name="Shape 16"/>
          <p:cNvSpPr/>
          <p:nvPr/>
        </p:nvSpPr>
        <p:spPr>
          <a:xfrm>
            <a:off x="566928" y="4069080"/>
            <a:ext cx="5577840" cy="1463040"/>
          </a:xfrm>
          <a:prstGeom prst="roundRect">
            <a:avLst>
              <a:gd name="adj" fmla="val 3125"/>
            </a:avLst>
          </a:prstGeom>
          <a:solidFill>
            <a:srgbClr val="F3F6F1"/>
          </a:solidFill>
          <a:ln w="12700">
            <a:solidFill>
              <a:srgbClr val="333333"/>
            </a:solidFill>
            <a:prstDash val="solid"/>
          </a:ln>
        </p:spPr>
      </p:sp>
      <p:sp>
        <p:nvSpPr>
          <p:cNvPr id="20" name="Text 17"/>
          <p:cNvSpPr txBox="1"/>
          <p:nvPr/>
        </p:nvSpPr>
        <p:spPr>
          <a:xfrm>
            <a:off x="859536" y="4279392"/>
            <a:ext cx="457200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起動</a:t>
            </a:r>
            <a:endParaRPr lang="en-US" sz="1500" dirty="0"/>
          </a:p>
        </p:txBody>
      </p:sp>
      <p:sp>
        <p:nvSpPr>
          <p:cNvPr id="21" name="Text 18"/>
          <p:cNvSpPr txBox="1"/>
          <p:nvPr/>
        </p:nvSpPr>
        <p:spPr>
          <a:xfrm>
            <a:off x="859536" y="4645152"/>
            <a:ext cx="4983480" cy="77724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docker compose up --build を実行し、http://localhost:3000 を開くだけ。初回はSQLとCSVからテーブルと初期データが自動登録されます。</a:t>
            </a:r>
            <a:endParaRPr lang="en-US" sz="1200" dirty="0"/>
          </a:p>
        </p:txBody>
      </p:sp>
      <p:sp>
        <p:nvSpPr>
          <p:cNvPr id="22" name="Shape 19"/>
          <p:cNvSpPr/>
          <p:nvPr/>
        </p:nvSpPr>
        <p:spPr>
          <a:xfrm>
            <a:off x="6464808" y="4069080"/>
            <a:ext cx="5577840" cy="1463040"/>
          </a:xfrm>
          <a:prstGeom prst="roundRect">
            <a:avLst>
              <a:gd name="adj" fmla="val 3125"/>
            </a:avLst>
          </a:prstGeom>
          <a:solidFill>
            <a:srgbClr val="F3F6F1"/>
          </a:solidFill>
          <a:ln w="12700">
            <a:solidFill>
              <a:srgbClr val="333333"/>
            </a:solidFill>
            <a:prstDash val="solid"/>
          </a:ln>
        </p:spPr>
      </p:sp>
      <p:sp>
        <p:nvSpPr>
          <p:cNvPr id="23" name="Text 20"/>
          <p:cNvSpPr txBox="1"/>
          <p:nvPr/>
        </p:nvSpPr>
        <p:spPr>
          <a:xfrm>
            <a:off x="6757416" y="4279392"/>
            <a:ext cx="457200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テスト</a:t>
            </a:r>
            <a:endParaRPr lang="en-US" sz="1500" dirty="0"/>
          </a:p>
        </p:txBody>
      </p:sp>
      <p:sp>
        <p:nvSpPr>
          <p:cNvPr id="24" name="Text 21"/>
          <p:cNvSpPr txBox="1"/>
          <p:nvPr/>
        </p:nvSpPr>
        <p:spPr>
          <a:xfrm>
            <a:off x="6757416" y="4645152"/>
            <a:ext cx="4983480" cy="77724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検索の正規化、距離計算、入力値の検証、各ルートの応答を Application/test の自動テストで確認しています。</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566928" y="457200"/>
            <a:ext cx="8412480" cy="274320"/>
          </a:xfrm>
          <a:prstGeom prst="rect">
            <a:avLst/>
          </a:prstGeom>
          <a:noFill/>
          <a:ln/>
        </p:spPr>
        <p:txBody>
          <a:bodyPr wrap="square" lIns="0" tIns="0" rIns="0" bIns="0" rtlCol="0" anchor="ctr"/>
          <a:lstStyle/>
          <a:p>
            <a:pPr indent="0" marL="0">
              <a:buNone/>
            </a:pPr>
            <a:r>
              <a:rPr lang="en-US" sz="1200" b="1" spc="100" kern="0" dirty="0">
                <a:solidFill>
                  <a:srgbClr val="456B52"/>
                </a:solidFill>
                <a:latin typeface="Meiryo" pitchFamily="34" charset="0"/>
                <a:ea typeface="Meiryo" pitchFamily="34" charset="-122"/>
                <a:cs typeface="Meiryo" pitchFamily="34" charset="-120"/>
              </a:rPr>
              <a:t>工夫 1 ／ 検索</a:t>
            </a:r>
            <a:endParaRPr lang="en-US" sz="1200" dirty="0"/>
          </a:p>
        </p:txBody>
      </p:sp>
      <p:sp>
        <p:nvSpPr>
          <p:cNvPr id="4" name="Text 1"/>
          <p:cNvSpPr txBox="1"/>
          <p:nvPr/>
        </p:nvSpPr>
        <p:spPr>
          <a:xfrm>
            <a:off x="9613087" y="457200"/>
            <a:ext cx="2011680" cy="274320"/>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7:30 / 10:00</a:t>
            </a:r>
            <a:endParaRPr lang="en-US" sz="1100" dirty="0"/>
          </a:p>
        </p:txBody>
      </p:sp>
      <p:sp>
        <p:nvSpPr>
          <p:cNvPr id="5" name="Text 2"/>
          <p:cNvSpPr txBox="1"/>
          <p:nvPr/>
        </p:nvSpPr>
        <p:spPr>
          <a:xfrm>
            <a:off x="566928" y="804672"/>
            <a:ext cx="11057839" cy="685800"/>
          </a:xfrm>
          <a:prstGeom prst="rect">
            <a:avLst/>
          </a:prstGeom>
          <a:noFill/>
          <a:ln/>
        </p:spPr>
        <p:txBody>
          <a:bodyPr wrap="square" lIns="0" tIns="0" rIns="0" bIns="0" rtlCol="0" anchor="ctr"/>
          <a:lstStyle/>
          <a:p>
            <a:pPr indent="0" marL="0">
              <a:lnSpc>
                <a:spcPts val="3400"/>
              </a:lnSpc>
              <a:buNone/>
            </a:pPr>
            <a:r>
              <a:rPr lang="en-US" sz="2800" b="1" dirty="0">
                <a:solidFill>
                  <a:srgbClr val="17211A"/>
                </a:solidFill>
                <a:latin typeface="Meiryo" pitchFamily="34" charset="0"/>
                <a:ea typeface="Meiryo" pitchFamily="34" charset="-122"/>
                <a:cs typeface="Meiryo" pitchFamily="34" charset="-120"/>
              </a:rPr>
              <a:t>入力を3段階で正規化し、表記ゆれを吸収する</a:t>
            </a:r>
            <a:endParaRPr lang="en-US" sz="2800" dirty="0"/>
          </a:p>
        </p:txBody>
      </p:sp>
      <p:sp>
        <p:nvSpPr>
          <p:cNvPr id="6" name="Shape 3"/>
          <p:cNvSpPr/>
          <p:nvPr/>
        </p:nvSpPr>
        <p:spPr>
          <a:xfrm>
            <a:off x="566928" y="1828800"/>
            <a:ext cx="3520440" cy="1417320"/>
          </a:xfrm>
          <a:prstGeom prst="roundRect">
            <a:avLst>
              <a:gd name="adj" fmla="val 3226"/>
            </a:avLst>
          </a:prstGeom>
          <a:solidFill>
            <a:srgbClr val="F3F6F1"/>
          </a:solidFill>
          <a:ln w="12700">
            <a:solidFill>
              <a:srgbClr val="333333"/>
            </a:solidFill>
            <a:prstDash val="solid"/>
          </a:ln>
        </p:spPr>
      </p:sp>
      <p:sp>
        <p:nvSpPr>
          <p:cNvPr id="7" name="Shape 4"/>
          <p:cNvSpPr/>
          <p:nvPr/>
        </p:nvSpPr>
        <p:spPr>
          <a:xfrm>
            <a:off x="841248" y="2057400"/>
            <a:ext cx="365760" cy="365760"/>
          </a:xfrm>
          <a:prstGeom prst="roundRect">
            <a:avLst>
              <a:gd name="adj" fmla="val 87500"/>
            </a:avLst>
          </a:prstGeom>
          <a:solidFill>
            <a:srgbClr val="456B52"/>
          </a:solidFill>
          <a:ln w="12700">
            <a:solidFill>
              <a:srgbClr val="333333"/>
            </a:solidFill>
            <a:prstDash val="solid"/>
          </a:ln>
        </p:spPr>
      </p:sp>
      <p:sp>
        <p:nvSpPr>
          <p:cNvPr id="8" name="Text 5"/>
          <p:cNvSpPr txBox="1"/>
          <p:nvPr/>
        </p:nvSpPr>
        <p:spPr>
          <a:xfrm>
            <a:off x="841248" y="20574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9" name="Text 6"/>
          <p:cNvSpPr txBox="1"/>
          <p:nvPr/>
        </p:nvSpPr>
        <p:spPr>
          <a:xfrm>
            <a:off x="1344168" y="2103120"/>
            <a:ext cx="256032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NFKC正規化</a:t>
            </a:r>
            <a:endParaRPr lang="en-US" sz="1500" dirty="0"/>
          </a:p>
        </p:txBody>
      </p:sp>
      <p:sp>
        <p:nvSpPr>
          <p:cNvPr id="10" name="Text 7"/>
          <p:cNvSpPr txBox="1"/>
          <p:nvPr/>
        </p:nvSpPr>
        <p:spPr>
          <a:xfrm>
            <a:off x="841248" y="2606040"/>
            <a:ext cx="2971800" cy="457200"/>
          </a:xfrm>
          <a:prstGeom prst="rect">
            <a:avLst/>
          </a:prstGeom>
          <a:noFill/>
          <a:ln/>
        </p:spPr>
        <p:txBody>
          <a:bodyPr wrap="square" lIns="0" tIns="0" rIns="0" bIns="0" rtlCol="0" anchor="ctr"/>
          <a:lstStyle/>
          <a:p>
            <a:pPr indent="0" marL="0">
              <a:buNone/>
            </a:pPr>
            <a:r>
              <a:rPr lang="en-US" sz="1200" dirty="0">
                <a:solidFill>
                  <a:srgbClr val="55655A"/>
                </a:solidFill>
                <a:latin typeface="Meiryo" pitchFamily="34" charset="0"/>
                <a:ea typeface="Meiryo" pitchFamily="34" charset="-122"/>
                <a:cs typeface="Meiryo" pitchFamily="34" charset="-120"/>
              </a:rPr>
              <a:t>全角と半角をそろえる</a:t>
            </a:r>
            <a:endParaRPr lang="en-US" sz="1200" dirty="0"/>
          </a:p>
        </p:txBody>
      </p:sp>
      <p:sp>
        <p:nvSpPr>
          <p:cNvPr id="11" name="Shape 8"/>
          <p:cNvSpPr/>
          <p:nvPr/>
        </p:nvSpPr>
        <p:spPr>
          <a:xfrm>
            <a:off x="4315968" y="1828800"/>
            <a:ext cx="3520440" cy="1417320"/>
          </a:xfrm>
          <a:prstGeom prst="roundRect">
            <a:avLst>
              <a:gd name="adj" fmla="val 3226"/>
            </a:avLst>
          </a:prstGeom>
          <a:solidFill>
            <a:srgbClr val="F3F6F1"/>
          </a:solidFill>
          <a:ln w="12700">
            <a:solidFill>
              <a:srgbClr val="333333"/>
            </a:solidFill>
            <a:prstDash val="solid"/>
          </a:ln>
        </p:spPr>
      </p:sp>
      <p:sp>
        <p:nvSpPr>
          <p:cNvPr id="12" name="Shape 9"/>
          <p:cNvSpPr/>
          <p:nvPr/>
        </p:nvSpPr>
        <p:spPr>
          <a:xfrm>
            <a:off x="4590288" y="2057400"/>
            <a:ext cx="365760" cy="365760"/>
          </a:xfrm>
          <a:prstGeom prst="roundRect">
            <a:avLst>
              <a:gd name="adj" fmla="val 87500"/>
            </a:avLst>
          </a:prstGeom>
          <a:solidFill>
            <a:srgbClr val="456B52"/>
          </a:solidFill>
          <a:ln w="12700">
            <a:solidFill>
              <a:srgbClr val="333333"/>
            </a:solidFill>
            <a:prstDash val="solid"/>
          </a:ln>
        </p:spPr>
      </p:sp>
      <p:sp>
        <p:nvSpPr>
          <p:cNvPr id="13" name="Text 10"/>
          <p:cNvSpPr txBox="1"/>
          <p:nvPr/>
        </p:nvSpPr>
        <p:spPr>
          <a:xfrm>
            <a:off x="4590288" y="20574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14" name="Text 11"/>
          <p:cNvSpPr txBox="1"/>
          <p:nvPr/>
        </p:nvSpPr>
        <p:spPr>
          <a:xfrm>
            <a:off x="5093208" y="2103120"/>
            <a:ext cx="256032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小文字化</a:t>
            </a:r>
            <a:endParaRPr lang="en-US" sz="1500" dirty="0"/>
          </a:p>
        </p:txBody>
      </p:sp>
      <p:sp>
        <p:nvSpPr>
          <p:cNvPr id="15" name="Text 12"/>
          <p:cNvSpPr txBox="1"/>
          <p:nvPr/>
        </p:nvSpPr>
        <p:spPr>
          <a:xfrm>
            <a:off x="4590288" y="2606040"/>
            <a:ext cx="2971800" cy="457200"/>
          </a:xfrm>
          <a:prstGeom prst="rect">
            <a:avLst/>
          </a:prstGeom>
          <a:noFill/>
          <a:ln/>
        </p:spPr>
        <p:txBody>
          <a:bodyPr wrap="square" lIns="0" tIns="0" rIns="0" bIns="0" rtlCol="0" anchor="ctr"/>
          <a:lstStyle/>
          <a:p>
            <a:pPr indent="0" marL="0">
              <a:buNone/>
            </a:pPr>
            <a:r>
              <a:rPr lang="en-US" sz="1200" dirty="0">
                <a:solidFill>
                  <a:srgbClr val="55655A"/>
                </a:solidFill>
                <a:latin typeface="Meiryo" pitchFamily="34" charset="0"/>
                <a:ea typeface="Meiryo" pitchFamily="34" charset="-122"/>
                <a:cs typeface="Meiryo" pitchFamily="34" charset="-120"/>
              </a:rPr>
              <a:t>英字の大小差をなくす</a:t>
            </a:r>
            <a:endParaRPr lang="en-US" sz="1200" dirty="0"/>
          </a:p>
        </p:txBody>
      </p:sp>
      <p:sp>
        <p:nvSpPr>
          <p:cNvPr id="16" name="Shape 13"/>
          <p:cNvSpPr/>
          <p:nvPr/>
        </p:nvSpPr>
        <p:spPr>
          <a:xfrm>
            <a:off x="8065008" y="1828800"/>
            <a:ext cx="3520440" cy="1417320"/>
          </a:xfrm>
          <a:prstGeom prst="roundRect">
            <a:avLst>
              <a:gd name="adj" fmla="val 3226"/>
            </a:avLst>
          </a:prstGeom>
          <a:solidFill>
            <a:srgbClr val="F3F6F1"/>
          </a:solidFill>
          <a:ln w="12700">
            <a:solidFill>
              <a:srgbClr val="333333"/>
            </a:solidFill>
            <a:prstDash val="solid"/>
          </a:ln>
        </p:spPr>
      </p:sp>
      <p:sp>
        <p:nvSpPr>
          <p:cNvPr id="17" name="Shape 14"/>
          <p:cNvSpPr/>
          <p:nvPr/>
        </p:nvSpPr>
        <p:spPr>
          <a:xfrm>
            <a:off x="8339328" y="2057400"/>
            <a:ext cx="365760" cy="365760"/>
          </a:xfrm>
          <a:prstGeom prst="roundRect">
            <a:avLst>
              <a:gd name="adj" fmla="val 87500"/>
            </a:avLst>
          </a:prstGeom>
          <a:solidFill>
            <a:srgbClr val="456B52"/>
          </a:solidFill>
          <a:ln w="12700">
            <a:solidFill>
              <a:srgbClr val="333333"/>
            </a:solidFill>
            <a:prstDash val="solid"/>
          </a:ln>
        </p:spPr>
      </p:sp>
      <p:sp>
        <p:nvSpPr>
          <p:cNvPr id="18" name="Text 15"/>
          <p:cNvSpPr txBox="1"/>
          <p:nvPr/>
        </p:nvSpPr>
        <p:spPr>
          <a:xfrm>
            <a:off x="8339328" y="20574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19" name="Text 16"/>
          <p:cNvSpPr txBox="1"/>
          <p:nvPr/>
        </p:nvSpPr>
        <p:spPr>
          <a:xfrm>
            <a:off x="8842248" y="2103120"/>
            <a:ext cx="256032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カタカナ→ひらがな</a:t>
            </a:r>
            <a:endParaRPr lang="en-US" sz="1500" dirty="0"/>
          </a:p>
        </p:txBody>
      </p:sp>
      <p:sp>
        <p:nvSpPr>
          <p:cNvPr id="20" name="Text 17"/>
          <p:cNvSpPr txBox="1"/>
          <p:nvPr/>
        </p:nvSpPr>
        <p:spPr>
          <a:xfrm>
            <a:off x="8339328" y="2606040"/>
            <a:ext cx="2971800" cy="457200"/>
          </a:xfrm>
          <a:prstGeom prst="rect">
            <a:avLst/>
          </a:prstGeom>
          <a:noFill/>
          <a:ln/>
        </p:spPr>
        <p:txBody>
          <a:bodyPr wrap="square" lIns="0" tIns="0" rIns="0" bIns="0" rtlCol="0" anchor="ctr"/>
          <a:lstStyle/>
          <a:p>
            <a:pPr indent="0" marL="0">
              <a:buNone/>
            </a:pPr>
            <a:r>
              <a:rPr lang="en-US" sz="1200" dirty="0">
                <a:solidFill>
                  <a:srgbClr val="55655A"/>
                </a:solidFill>
                <a:latin typeface="Meiryo" pitchFamily="34" charset="0"/>
                <a:ea typeface="Meiryo" pitchFamily="34" charset="-122"/>
                <a:cs typeface="Meiryo" pitchFamily="34" charset="-120"/>
              </a:rPr>
              <a:t>読み仮名と同じ土俵で比較</a:t>
            </a:r>
            <a:endParaRPr lang="en-US" sz="1200" dirty="0"/>
          </a:p>
        </p:txBody>
      </p:sp>
      <p:sp>
        <p:nvSpPr>
          <p:cNvPr id="21" name="Shape 18"/>
          <p:cNvSpPr/>
          <p:nvPr/>
        </p:nvSpPr>
        <p:spPr>
          <a:xfrm>
            <a:off x="566928" y="3611880"/>
            <a:ext cx="11057839" cy="1965960"/>
          </a:xfrm>
          <a:prstGeom prst="roundRect">
            <a:avLst>
              <a:gd name="adj" fmla="val 2326"/>
            </a:avLst>
          </a:prstGeom>
          <a:solidFill>
            <a:srgbClr val="E4EDE5"/>
          </a:solidFill>
          <a:ln w="12700">
            <a:solidFill>
              <a:srgbClr val="333333"/>
            </a:solidFill>
            <a:prstDash val="solid"/>
          </a:ln>
        </p:spPr>
      </p:sp>
      <p:sp>
        <p:nvSpPr>
          <p:cNvPr id="22" name="Text 19"/>
          <p:cNvSpPr txBox="1"/>
          <p:nvPr/>
        </p:nvSpPr>
        <p:spPr>
          <a:xfrm>
            <a:off x="886968" y="3794760"/>
            <a:ext cx="5486400" cy="274320"/>
          </a:xfrm>
          <a:prstGeom prst="rect">
            <a:avLst/>
          </a:prstGeom>
          <a:noFill/>
          <a:ln/>
        </p:spPr>
        <p:txBody>
          <a:bodyPr wrap="square" lIns="0" tIns="0" rIns="0" bIns="0" rtlCol="0" anchor="ctr"/>
          <a:lstStyle/>
          <a:p>
            <a:pPr indent="0" marL="0">
              <a:buNone/>
            </a:pPr>
            <a:r>
              <a:rPr lang="en-US" sz="1400" b="1" dirty="0">
                <a:solidFill>
                  <a:srgbClr val="25392C"/>
                </a:solidFill>
                <a:latin typeface="Meiryo" pitchFamily="34" charset="0"/>
                <a:ea typeface="Meiryo" pitchFamily="34" charset="-122"/>
                <a:cs typeface="Meiryo" pitchFamily="34" charset="-120"/>
              </a:rPr>
              <a:t>どの入力でも同じ品目にたどり着く</a:t>
            </a:r>
            <a:endParaRPr lang="en-US" sz="1400" dirty="0"/>
          </a:p>
        </p:txBody>
      </p:sp>
      <p:sp>
        <p:nvSpPr>
          <p:cNvPr id="23" name="Text 20"/>
          <p:cNvSpPr txBox="1"/>
          <p:nvPr/>
        </p:nvSpPr>
        <p:spPr>
          <a:xfrm>
            <a:off x="886968" y="4206240"/>
            <a:ext cx="2194560" cy="274320"/>
          </a:xfrm>
          <a:prstGeom prst="rect">
            <a:avLst/>
          </a:prstGeom>
          <a:noFill/>
          <a:ln/>
        </p:spPr>
        <p:txBody>
          <a:bodyPr wrap="square" lIns="0" tIns="0" rIns="0" bIns="0" rtlCol="0" anchor="ctr"/>
          <a:lstStyle/>
          <a:p>
            <a:pPr indent="0" marL="0">
              <a:buNone/>
            </a:pPr>
            <a:r>
              <a:rPr lang="en-US" sz="1400" b="1" dirty="0">
                <a:solidFill>
                  <a:srgbClr val="17211A"/>
                </a:solidFill>
                <a:latin typeface="Meiryo" pitchFamily="34" charset="0"/>
                <a:ea typeface="Meiryo" pitchFamily="34" charset="-122"/>
                <a:cs typeface="Meiryo" pitchFamily="34" charset="-120"/>
              </a:rPr>
              <a:t>すまーとふぉん</a:t>
            </a:r>
            <a:endParaRPr lang="en-US" sz="1400" dirty="0"/>
          </a:p>
        </p:txBody>
      </p:sp>
      <p:sp>
        <p:nvSpPr>
          <p:cNvPr id="24" name="Text 21"/>
          <p:cNvSpPr txBox="1"/>
          <p:nvPr/>
        </p:nvSpPr>
        <p:spPr>
          <a:xfrm>
            <a:off x="3127248" y="4233672"/>
            <a:ext cx="2697480" cy="274320"/>
          </a:xfrm>
          <a:prstGeom prst="rect">
            <a:avLst/>
          </a:prstGeom>
          <a:noFill/>
          <a:ln/>
        </p:spPr>
        <p:txBody>
          <a:bodyPr wrap="square" lIns="0" tIns="0" rIns="0" bIns="0" rtlCol="0" anchor="ctr"/>
          <a:lstStyle/>
          <a:p>
            <a:pPr indent="0" marL="0">
              <a:buNone/>
            </a:pPr>
            <a:r>
              <a:rPr lang="en-US" sz="1200" dirty="0">
                <a:solidFill>
                  <a:srgbClr val="55655A"/>
                </a:solidFill>
                <a:latin typeface="Meiryo" pitchFamily="34" charset="0"/>
                <a:ea typeface="Meiryo" pitchFamily="34" charset="-122"/>
                <a:cs typeface="Meiryo" pitchFamily="34" charset="-120"/>
              </a:rPr>
              <a:t>→ 読み仮名そのまま</a:t>
            </a:r>
            <a:endParaRPr lang="en-US" sz="1200" dirty="0"/>
          </a:p>
        </p:txBody>
      </p:sp>
      <p:sp>
        <p:nvSpPr>
          <p:cNvPr id="25" name="Text 22"/>
          <p:cNvSpPr txBox="1"/>
          <p:nvPr/>
        </p:nvSpPr>
        <p:spPr>
          <a:xfrm>
            <a:off x="6373368" y="4206240"/>
            <a:ext cx="2194560" cy="274320"/>
          </a:xfrm>
          <a:prstGeom prst="rect">
            <a:avLst/>
          </a:prstGeom>
          <a:noFill/>
          <a:ln/>
        </p:spPr>
        <p:txBody>
          <a:bodyPr wrap="square" lIns="0" tIns="0" rIns="0" bIns="0" rtlCol="0" anchor="ctr"/>
          <a:lstStyle/>
          <a:p>
            <a:pPr indent="0" marL="0">
              <a:buNone/>
            </a:pPr>
            <a:r>
              <a:rPr lang="en-US" sz="1400" b="1" dirty="0">
                <a:solidFill>
                  <a:srgbClr val="17211A"/>
                </a:solidFill>
                <a:latin typeface="Meiryo" pitchFamily="34" charset="0"/>
                <a:ea typeface="Meiryo" pitchFamily="34" charset="-122"/>
                <a:cs typeface="Meiryo" pitchFamily="34" charset="-120"/>
              </a:rPr>
              <a:t>スマートフォン</a:t>
            </a:r>
            <a:endParaRPr lang="en-US" sz="1400" dirty="0"/>
          </a:p>
        </p:txBody>
      </p:sp>
      <p:sp>
        <p:nvSpPr>
          <p:cNvPr id="26" name="Text 23"/>
          <p:cNvSpPr txBox="1"/>
          <p:nvPr/>
        </p:nvSpPr>
        <p:spPr>
          <a:xfrm>
            <a:off x="8613648" y="4233672"/>
            <a:ext cx="2697480" cy="274320"/>
          </a:xfrm>
          <a:prstGeom prst="rect">
            <a:avLst/>
          </a:prstGeom>
          <a:noFill/>
          <a:ln/>
        </p:spPr>
        <p:txBody>
          <a:bodyPr wrap="square" lIns="0" tIns="0" rIns="0" bIns="0" rtlCol="0" anchor="ctr"/>
          <a:lstStyle/>
          <a:p>
            <a:pPr indent="0" marL="0">
              <a:buNone/>
            </a:pPr>
            <a:r>
              <a:rPr lang="en-US" sz="1200" dirty="0">
                <a:solidFill>
                  <a:srgbClr val="55655A"/>
                </a:solidFill>
                <a:latin typeface="Meiryo" pitchFamily="34" charset="0"/>
                <a:ea typeface="Meiryo" pitchFamily="34" charset="-122"/>
                <a:cs typeface="Meiryo" pitchFamily="34" charset="-120"/>
              </a:rPr>
              <a:t>→ カタカナ → ひらがなへ変換</a:t>
            </a:r>
            <a:endParaRPr lang="en-US" sz="1200" dirty="0"/>
          </a:p>
        </p:txBody>
      </p:sp>
      <p:sp>
        <p:nvSpPr>
          <p:cNvPr id="27" name="Text 24"/>
          <p:cNvSpPr txBox="1"/>
          <p:nvPr/>
        </p:nvSpPr>
        <p:spPr>
          <a:xfrm>
            <a:off x="886968" y="4773168"/>
            <a:ext cx="2194560" cy="274320"/>
          </a:xfrm>
          <a:prstGeom prst="rect">
            <a:avLst/>
          </a:prstGeom>
          <a:noFill/>
          <a:ln/>
        </p:spPr>
        <p:txBody>
          <a:bodyPr wrap="square" lIns="0" tIns="0" rIns="0" bIns="0" rtlCol="0" anchor="ctr"/>
          <a:lstStyle/>
          <a:p>
            <a:pPr indent="0" marL="0">
              <a:buNone/>
            </a:pPr>
            <a:r>
              <a:rPr lang="en-US" sz="1400" b="1" dirty="0">
                <a:solidFill>
                  <a:srgbClr val="17211A"/>
                </a:solidFill>
                <a:latin typeface="Meiryo" pitchFamily="34" charset="0"/>
                <a:ea typeface="Meiryo" pitchFamily="34" charset="-122"/>
                <a:cs typeface="Meiryo" pitchFamily="34" charset="-120"/>
              </a:rPr>
              <a:t>ＰＣ</a:t>
            </a:r>
            <a:endParaRPr lang="en-US" sz="1400" dirty="0"/>
          </a:p>
        </p:txBody>
      </p:sp>
      <p:sp>
        <p:nvSpPr>
          <p:cNvPr id="28" name="Text 25"/>
          <p:cNvSpPr txBox="1"/>
          <p:nvPr/>
        </p:nvSpPr>
        <p:spPr>
          <a:xfrm>
            <a:off x="3127248" y="4800600"/>
            <a:ext cx="2697480" cy="274320"/>
          </a:xfrm>
          <a:prstGeom prst="rect">
            <a:avLst/>
          </a:prstGeom>
          <a:noFill/>
          <a:ln/>
        </p:spPr>
        <p:txBody>
          <a:bodyPr wrap="square" lIns="0" tIns="0" rIns="0" bIns="0" rtlCol="0" anchor="ctr"/>
          <a:lstStyle/>
          <a:p>
            <a:pPr indent="0" marL="0">
              <a:buNone/>
            </a:pPr>
            <a:r>
              <a:rPr lang="en-US" sz="1200" dirty="0">
                <a:solidFill>
                  <a:srgbClr val="55655A"/>
                </a:solidFill>
                <a:latin typeface="Meiryo" pitchFamily="34" charset="0"/>
                <a:ea typeface="Meiryo" pitchFamily="34" charset="-122"/>
                <a:cs typeface="Meiryo" pitchFamily="34" charset="-120"/>
              </a:rPr>
              <a:t>→ 全角 → 半角へ正規化</a:t>
            </a:r>
            <a:endParaRPr lang="en-US" sz="1200" dirty="0"/>
          </a:p>
        </p:txBody>
      </p:sp>
      <p:sp>
        <p:nvSpPr>
          <p:cNvPr id="29" name="Text 26"/>
          <p:cNvSpPr txBox="1"/>
          <p:nvPr/>
        </p:nvSpPr>
        <p:spPr>
          <a:xfrm>
            <a:off x="6373368" y="4773168"/>
            <a:ext cx="2194560" cy="274320"/>
          </a:xfrm>
          <a:prstGeom prst="rect">
            <a:avLst/>
          </a:prstGeom>
          <a:noFill/>
          <a:ln/>
        </p:spPr>
        <p:txBody>
          <a:bodyPr wrap="square" lIns="0" tIns="0" rIns="0" bIns="0" rtlCol="0" anchor="ctr"/>
          <a:lstStyle/>
          <a:p>
            <a:pPr indent="0" marL="0">
              <a:buNone/>
            </a:pPr>
            <a:r>
              <a:rPr lang="en-US" sz="1400" b="1" dirty="0">
                <a:solidFill>
                  <a:srgbClr val="17211A"/>
                </a:solidFill>
                <a:latin typeface="Meiryo" pitchFamily="34" charset="0"/>
                <a:ea typeface="Meiryo" pitchFamily="34" charset="-122"/>
                <a:cs typeface="Meiryo" pitchFamily="34" charset="-120"/>
              </a:rPr>
              <a:t>pc</a:t>
            </a:r>
            <a:endParaRPr lang="en-US" sz="1400" dirty="0"/>
          </a:p>
        </p:txBody>
      </p:sp>
      <p:sp>
        <p:nvSpPr>
          <p:cNvPr id="30" name="Text 27"/>
          <p:cNvSpPr txBox="1"/>
          <p:nvPr/>
        </p:nvSpPr>
        <p:spPr>
          <a:xfrm>
            <a:off x="8613648" y="4800600"/>
            <a:ext cx="2697480" cy="274320"/>
          </a:xfrm>
          <a:prstGeom prst="rect">
            <a:avLst/>
          </a:prstGeom>
          <a:noFill/>
          <a:ln/>
        </p:spPr>
        <p:txBody>
          <a:bodyPr wrap="square" lIns="0" tIns="0" rIns="0" bIns="0" rtlCol="0" anchor="ctr"/>
          <a:lstStyle/>
          <a:p>
            <a:pPr indent="0" marL="0">
              <a:buNone/>
            </a:pPr>
            <a:r>
              <a:rPr lang="en-US" sz="1200" dirty="0">
                <a:solidFill>
                  <a:srgbClr val="55655A"/>
                </a:solidFill>
                <a:latin typeface="Meiryo" pitchFamily="34" charset="0"/>
                <a:ea typeface="Meiryo" pitchFamily="34" charset="-122"/>
                <a:cs typeface="Meiryo" pitchFamily="34" charset="-120"/>
              </a:rPr>
              <a:t>→ 大文字 → 小文字へ</a:t>
            </a:r>
            <a:endParaRPr lang="en-US" sz="1200" dirty="0"/>
          </a:p>
        </p:txBody>
      </p:sp>
      <p:sp>
        <p:nvSpPr>
          <p:cNvPr id="31" name="Text 28"/>
          <p:cNvSpPr txBox="1"/>
          <p:nvPr/>
        </p:nvSpPr>
        <p:spPr>
          <a:xfrm>
            <a:off x="566928" y="5760720"/>
            <a:ext cx="9144000" cy="274320"/>
          </a:xfrm>
          <a:prstGeom prst="rect">
            <a:avLst/>
          </a:prstGeom>
          <a:noFill/>
          <a:ln/>
        </p:spPr>
        <p:txBody>
          <a:bodyPr wrap="square" lIns="0" tIns="0" rIns="0" bIns="0" rtlCol="0" anchor="ctr"/>
          <a:lstStyle/>
          <a:p>
            <a:pPr indent="0" marL="0">
              <a:buNone/>
            </a:pPr>
            <a:r>
              <a:rPr lang="en-US" sz="1100" dirty="0">
                <a:solidFill>
                  <a:srgbClr val="55655A"/>
                </a:solidFill>
                <a:latin typeface="Meiryo" pitchFamily="34" charset="0"/>
                <a:ea typeface="Meiryo" pitchFamily="34" charset="-122"/>
                <a:cs typeface="Meiryo" pitchFamily="34" charset="-120"/>
              </a:rPr>
              <a:t>品目名と読み仮名の両方を同じ処理に通すため、どちらで覚えていても同じ結果になります。</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566928" y="457200"/>
            <a:ext cx="8412480" cy="274320"/>
          </a:xfrm>
          <a:prstGeom prst="rect">
            <a:avLst/>
          </a:prstGeom>
          <a:noFill/>
          <a:ln/>
        </p:spPr>
        <p:txBody>
          <a:bodyPr wrap="square" lIns="0" tIns="0" rIns="0" bIns="0" rtlCol="0" anchor="ctr"/>
          <a:lstStyle/>
          <a:p>
            <a:pPr indent="0" marL="0">
              <a:buNone/>
            </a:pPr>
            <a:r>
              <a:rPr lang="en-US" sz="1200" b="1" spc="100" kern="0" dirty="0">
                <a:solidFill>
                  <a:srgbClr val="456B52"/>
                </a:solidFill>
                <a:latin typeface="Meiryo" pitchFamily="34" charset="0"/>
                <a:ea typeface="Meiryo" pitchFamily="34" charset="-122"/>
                <a:cs typeface="Meiryo" pitchFamily="34" charset="-120"/>
              </a:rPr>
              <a:t>工夫 2 ／ 位置情報</a:t>
            </a:r>
            <a:endParaRPr lang="en-US" sz="1200" dirty="0"/>
          </a:p>
        </p:txBody>
      </p:sp>
      <p:sp>
        <p:nvSpPr>
          <p:cNvPr id="4" name="Text 1"/>
          <p:cNvSpPr txBox="1"/>
          <p:nvPr/>
        </p:nvSpPr>
        <p:spPr>
          <a:xfrm>
            <a:off x="9613087" y="457200"/>
            <a:ext cx="2011680" cy="274320"/>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8:15 / 10:00</a:t>
            </a:r>
            <a:endParaRPr lang="en-US" sz="1100" dirty="0"/>
          </a:p>
        </p:txBody>
      </p:sp>
      <p:sp>
        <p:nvSpPr>
          <p:cNvPr id="5" name="Text 2"/>
          <p:cNvSpPr txBox="1"/>
          <p:nvPr/>
        </p:nvSpPr>
        <p:spPr>
          <a:xfrm>
            <a:off x="566928" y="804672"/>
            <a:ext cx="11057839" cy="685800"/>
          </a:xfrm>
          <a:prstGeom prst="rect">
            <a:avLst/>
          </a:prstGeom>
          <a:noFill/>
          <a:ln/>
        </p:spPr>
        <p:txBody>
          <a:bodyPr wrap="square" lIns="0" tIns="0" rIns="0" bIns="0" rtlCol="0" anchor="ctr"/>
          <a:lstStyle/>
          <a:p>
            <a:pPr indent="0" marL="0">
              <a:lnSpc>
                <a:spcPts val="3400"/>
              </a:lnSpc>
              <a:buNone/>
            </a:pPr>
            <a:r>
              <a:rPr lang="en-US" sz="2800" b="1" dirty="0">
                <a:solidFill>
                  <a:srgbClr val="17211A"/>
                </a:solidFill>
                <a:latin typeface="Meiryo" pitchFamily="34" charset="0"/>
                <a:ea typeface="Meiryo" pitchFamily="34" charset="-122"/>
                <a:cs typeface="Meiryo" pitchFamily="34" charset="-120"/>
              </a:rPr>
              <a:t>現在地は、その場で使って、持ち帰らない</a:t>
            </a:r>
            <a:endParaRPr lang="en-US" sz="2800" dirty="0"/>
          </a:p>
        </p:txBody>
      </p:sp>
      <p:sp>
        <p:nvSpPr>
          <p:cNvPr id="6" name="Text 3"/>
          <p:cNvSpPr txBox="1"/>
          <p:nvPr/>
        </p:nvSpPr>
        <p:spPr>
          <a:xfrm>
            <a:off x="566928" y="1874520"/>
            <a:ext cx="5943600" cy="2286000"/>
          </a:xfrm>
          <a:prstGeom prst="rect">
            <a:avLst/>
          </a:prstGeom>
          <a:noFill/>
          <a:ln/>
        </p:spPr>
        <p:txBody>
          <a:bodyPr wrap="square" lIns="0" tIns="0" rIns="0" bIns="0" rtlCol="0" anchor="ctr"/>
          <a:lstStyle/>
          <a:p>
            <a:pPr marL="342900" indent="-342900">
              <a:lnSpc>
                <a:spcPts val="2000"/>
              </a:lnSpc>
              <a:spcAft>
                <a:spcPts val="200"/>
              </a:spcAft>
              <a:buSzPct val="100000"/>
              <a:buChar char="▪"/>
            </a:pPr>
            <a:r>
              <a:rPr lang="en-US" sz="1400" b="1" dirty="0">
                <a:solidFill>
                  <a:srgbClr val="17211A"/>
                </a:solidFill>
                <a:latin typeface="Meiryo" pitchFamily="34" charset="0"/>
                <a:ea typeface="Meiryo" pitchFamily="34" charset="-122"/>
                <a:cs typeface="Meiryo" pitchFamily="34" charset="-120"/>
              </a:rPr>
              <a:t>取得するのは、回収場所がある品目の結果画面だけ</a:t>
            </a:r>
            <a:endParaRPr lang="en-US" sz="1400" dirty="0"/>
          </a:p>
          <a:p>
            <a:pPr lvl="1" indent="0" marL="0">
              <a:lnSpc>
                <a:spcPts val="2000"/>
              </a:lnSpc>
              <a:spcAft>
                <a:spcPts val="1000"/>
              </a:spcAft>
              <a:buNone/>
            </a:pPr>
            <a:r>
              <a:rPr lang="en-US" sz="1100" dirty="0">
                <a:solidFill>
                  <a:srgbClr val="55655A"/>
                </a:solidFill>
                <a:latin typeface="Meiryo" pitchFamily="34" charset="0"/>
                <a:ea typeface="Meiryo" pitchFamily="34" charset="-122"/>
                <a:cs typeface="Meiryo" pitchFamily="34" charset="-120"/>
              </a:rPr>
              <a:t>高精度測位は使わない／タイムアウト10秒／キャッシュ許容5分</a:t>
            </a:r>
            <a:endParaRPr lang="en-US" sz="1400" dirty="0"/>
          </a:p>
          <a:p>
            <a:pPr marL="342900" indent="-342900">
              <a:lnSpc>
                <a:spcPts val="2000"/>
              </a:lnSpc>
              <a:spcAft>
                <a:spcPts val="200"/>
              </a:spcAft>
              <a:buSzPct val="100000"/>
              <a:buChar char="▪"/>
            </a:pPr>
            <a:r>
              <a:rPr lang="en-US" sz="1400" b="1" dirty="0">
                <a:solidFill>
                  <a:srgbClr val="17211A"/>
                </a:solidFill>
                <a:latin typeface="Meiryo" pitchFamily="34" charset="0"/>
                <a:ea typeface="Meiryo" pitchFamily="34" charset="-122"/>
                <a:cs typeface="Meiryo" pitchFamily="34" charset="-120"/>
              </a:rPr>
              <a:t>座標はAPIへ一時的に送り、距離計算にだけ使用</a:t>
            </a:r>
            <a:endParaRPr lang="en-US" sz="1400" dirty="0"/>
          </a:p>
          <a:p>
            <a:pPr lvl="1" indent="0" marL="0">
              <a:lnSpc>
                <a:spcPts val="2000"/>
              </a:lnSpc>
              <a:spcAft>
                <a:spcPts val="1000"/>
              </a:spcAft>
              <a:buNone/>
            </a:pPr>
            <a:r>
              <a:rPr lang="en-US" sz="1100" dirty="0">
                <a:solidFill>
                  <a:srgbClr val="55655A"/>
                </a:solidFill>
                <a:latin typeface="Meiryo" pitchFamily="34" charset="0"/>
                <a:ea typeface="Meiryo" pitchFamily="34" charset="-122"/>
                <a:cs typeface="Meiryo" pitchFamily="34" charset="-120"/>
              </a:rPr>
              <a:t>MySQL・ファイル・ログのいずれにも書き込まない</a:t>
            </a:r>
            <a:endParaRPr lang="en-US" sz="1400" dirty="0"/>
          </a:p>
          <a:p>
            <a:pPr marL="342900" indent="-342900">
              <a:lnSpc>
                <a:spcPts val="2000"/>
              </a:lnSpc>
              <a:spcAft>
                <a:spcPts val="1000"/>
              </a:spcAft>
              <a:buSzPct val="100000"/>
              <a:buChar char="▪"/>
            </a:pPr>
            <a:r>
              <a:rPr lang="en-US" sz="1400" b="1" dirty="0">
                <a:solidFill>
                  <a:srgbClr val="17211A"/>
                </a:solidFill>
                <a:latin typeface="Meiryo" pitchFamily="34" charset="0"/>
                <a:ea typeface="Meiryo" pitchFamily="34" charset="-122"/>
                <a:cs typeface="Meiryo" pitchFamily="34" charset="-120"/>
              </a:rPr>
              <a:t>拒否・タイムアウト・非対応でも、施設一覧は表示する</a:t>
            </a:r>
            <a:endParaRPr lang="en-US" sz="1400" dirty="0"/>
          </a:p>
        </p:txBody>
      </p:sp>
      <p:sp>
        <p:nvSpPr>
          <p:cNvPr id="7" name="Shape 4"/>
          <p:cNvSpPr/>
          <p:nvPr/>
        </p:nvSpPr>
        <p:spPr>
          <a:xfrm>
            <a:off x="6675120" y="1783080"/>
            <a:ext cx="4937760" cy="2514600"/>
          </a:xfrm>
          <a:prstGeom prst="roundRect">
            <a:avLst>
              <a:gd name="adj" fmla="val 1818"/>
            </a:avLst>
          </a:prstGeom>
          <a:solidFill>
            <a:srgbClr val="E4EDE5"/>
          </a:solidFill>
          <a:ln w="12700">
            <a:solidFill>
              <a:srgbClr val="333333"/>
            </a:solidFill>
            <a:prstDash val="solid"/>
          </a:ln>
        </p:spPr>
      </p:sp>
      <p:sp>
        <p:nvSpPr>
          <p:cNvPr id="8" name="Text 5"/>
          <p:cNvSpPr txBox="1"/>
          <p:nvPr/>
        </p:nvSpPr>
        <p:spPr>
          <a:xfrm>
            <a:off x="6949440" y="2011680"/>
            <a:ext cx="438912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位置情報が取れないときの並び順</a:t>
            </a:r>
            <a:endParaRPr lang="en-US" sz="1500" dirty="0"/>
          </a:p>
        </p:txBody>
      </p:sp>
      <p:sp>
        <p:nvSpPr>
          <p:cNvPr id="9" name="Text 6"/>
          <p:cNvSpPr txBox="1"/>
          <p:nvPr/>
        </p:nvSpPr>
        <p:spPr>
          <a:xfrm>
            <a:off x="6949440" y="2377440"/>
            <a:ext cx="4389120" cy="64008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区の固定順で並べ、区の中は施設の読み仮名順にします。距離と現在地マーカーは表示しません。</a:t>
            </a:r>
            <a:endParaRPr lang="en-US" sz="1200" dirty="0"/>
          </a:p>
        </p:txBody>
      </p:sp>
      <p:sp>
        <p:nvSpPr>
          <p:cNvPr id="10" name="Text 7"/>
          <p:cNvSpPr txBox="1"/>
          <p:nvPr/>
        </p:nvSpPr>
        <p:spPr>
          <a:xfrm>
            <a:off x="6949440" y="3154680"/>
            <a:ext cx="4389120" cy="731520"/>
          </a:xfrm>
          <a:prstGeom prst="rect">
            <a:avLst/>
          </a:prstGeom>
          <a:noFill/>
          <a:ln/>
        </p:spPr>
        <p:txBody>
          <a:bodyPr wrap="square" lIns="0" tIns="0" rIns="0" bIns="0" rtlCol="0" anchor="ctr"/>
          <a:lstStyle/>
          <a:p>
            <a:pPr indent="0" marL="0">
              <a:lnSpc>
                <a:spcPts val="2400"/>
              </a:lnSpc>
              <a:buNone/>
            </a:pPr>
            <a:r>
              <a:rPr lang="en-US" sz="1400" b="1" dirty="0">
                <a:solidFill>
                  <a:srgbClr val="25392C"/>
                </a:solidFill>
                <a:latin typeface="Meiryo" pitchFamily="34" charset="0"/>
                <a:ea typeface="Meiryo" pitchFamily="34" charset="-122"/>
                <a:cs typeface="Meiryo" pitchFamily="34" charset="-120"/>
              </a:rPr>
              <a:t>稲毛区 → 中央区 → 花見川区</a:t>
            </a:r>
            <a:endParaRPr lang="en-US" sz="1400" dirty="0"/>
          </a:p>
          <a:p>
            <a:pPr indent="0" marL="0">
              <a:lnSpc>
                <a:spcPts val="2400"/>
              </a:lnSpc>
              <a:buNone/>
            </a:pPr>
            <a:r>
              <a:rPr lang="en-US" sz="1400" b="1" dirty="0">
                <a:solidFill>
                  <a:srgbClr val="25392C"/>
                </a:solidFill>
                <a:latin typeface="Meiryo" pitchFamily="34" charset="0"/>
                <a:ea typeface="Meiryo" pitchFamily="34" charset="-122"/>
                <a:cs typeface="Meiryo" pitchFamily="34" charset="-120"/>
              </a:rPr>
              <a:t>→ 緑区 → 美浜区 → 若葉区</a:t>
            </a:r>
            <a:endParaRPr lang="en-US" sz="1400" dirty="0"/>
          </a:p>
        </p:txBody>
      </p:sp>
      <p:sp>
        <p:nvSpPr>
          <p:cNvPr id="11" name="Shape 8"/>
          <p:cNvSpPr/>
          <p:nvPr/>
        </p:nvSpPr>
        <p:spPr>
          <a:xfrm>
            <a:off x="566928" y="4572000"/>
            <a:ext cx="11057839" cy="1097280"/>
          </a:xfrm>
          <a:prstGeom prst="roundRect">
            <a:avLst>
              <a:gd name="adj" fmla="val 4167"/>
            </a:avLst>
          </a:prstGeom>
          <a:solidFill>
            <a:srgbClr val="FBF1DA"/>
          </a:solidFill>
          <a:ln w="12700">
            <a:solidFill>
              <a:srgbClr val="333333"/>
            </a:solidFill>
            <a:prstDash val="solid"/>
          </a:ln>
        </p:spPr>
      </p:sp>
      <p:sp>
        <p:nvSpPr>
          <p:cNvPr id="12" name="Text 9"/>
          <p:cNvSpPr txBox="1"/>
          <p:nvPr/>
        </p:nvSpPr>
        <p:spPr>
          <a:xfrm>
            <a:off x="886968" y="4800600"/>
            <a:ext cx="10417759" cy="731520"/>
          </a:xfrm>
          <a:prstGeom prst="rect">
            <a:avLst/>
          </a:prstGeom>
          <a:noFill/>
          <a:ln/>
        </p:spPr>
        <p:txBody>
          <a:bodyPr wrap="square" lIns="0" tIns="0" rIns="0" bIns="0" rtlCol="0" anchor="ctr"/>
          <a:lstStyle/>
          <a:p>
            <a:pPr indent="0" marL="0">
              <a:lnSpc>
                <a:spcPts val="2200"/>
              </a:lnSpc>
              <a:buNone/>
            </a:pPr>
            <a:r>
              <a:rPr lang="en-US" sz="1400" dirty="0">
                <a:solidFill>
                  <a:srgbClr val="17211A"/>
                </a:solidFill>
                <a:latin typeface="Meiryo" pitchFamily="34" charset="0"/>
                <a:ea typeface="Meiryo" pitchFamily="34" charset="-122"/>
                <a:cs typeface="Meiryo" pitchFamily="34" charset="-120"/>
              </a:rPr>
              <a:t>位置情報を許可しない人も、同じ情報にたどり着けることを前提に設計しています。</a:t>
            </a:r>
            <a:endParaRPr lang="en-US" sz="1400" dirty="0"/>
          </a:p>
          <a:p>
            <a:pPr indent="0" marL="0">
              <a:lnSpc>
                <a:spcPts val="2200"/>
              </a:lnSpc>
              <a:buNone/>
            </a:pPr>
            <a:r>
              <a:rPr lang="en-US" sz="1400" dirty="0">
                <a:solidFill>
                  <a:srgbClr val="17211A"/>
                </a:solidFill>
                <a:latin typeface="Meiryo" pitchFamily="34" charset="0"/>
                <a:ea typeface="Meiryo" pitchFamily="34" charset="-122"/>
                <a:cs typeface="Meiryo" pitchFamily="34" charset="-120"/>
              </a:rPr>
              <a:t>許可は「近い順に並べ替える」ためだけの追加機能です。</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566928" y="457200"/>
            <a:ext cx="8412480" cy="274320"/>
          </a:xfrm>
          <a:prstGeom prst="rect">
            <a:avLst/>
          </a:prstGeom>
          <a:noFill/>
          <a:ln/>
        </p:spPr>
        <p:txBody>
          <a:bodyPr wrap="square" lIns="0" tIns="0" rIns="0" bIns="0" rtlCol="0" anchor="ctr"/>
          <a:lstStyle/>
          <a:p>
            <a:pPr indent="0" marL="0">
              <a:buNone/>
            </a:pPr>
            <a:r>
              <a:rPr lang="en-US" sz="1200" b="1" spc="100" kern="0" dirty="0">
                <a:solidFill>
                  <a:srgbClr val="456B52"/>
                </a:solidFill>
                <a:latin typeface="Meiryo" pitchFamily="34" charset="0"/>
                <a:ea typeface="Meiryo" pitchFamily="34" charset="-122"/>
                <a:cs typeface="Meiryo" pitchFamily="34" charset="-120"/>
              </a:rPr>
              <a:t>工夫 3 ／ 止めない設計</a:t>
            </a:r>
            <a:endParaRPr lang="en-US" sz="1200" dirty="0"/>
          </a:p>
        </p:txBody>
      </p:sp>
      <p:sp>
        <p:nvSpPr>
          <p:cNvPr id="4" name="Text 1"/>
          <p:cNvSpPr txBox="1"/>
          <p:nvPr/>
        </p:nvSpPr>
        <p:spPr>
          <a:xfrm>
            <a:off x="9613087" y="457200"/>
            <a:ext cx="2011680" cy="274320"/>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9:00 / 10:00</a:t>
            </a:r>
            <a:endParaRPr lang="en-US" sz="1100" dirty="0"/>
          </a:p>
        </p:txBody>
      </p:sp>
      <p:sp>
        <p:nvSpPr>
          <p:cNvPr id="5" name="Text 2"/>
          <p:cNvSpPr txBox="1"/>
          <p:nvPr/>
        </p:nvSpPr>
        <p:spPr>
          <a:xfrm>
            <a:off x="566928" y="804672"/>
            <a:ext cx="11057839" cy="685800"/>
          </a:xfrm>
          <a:prstGeom prst="rect">
            <a:avLst/>
          </a:prstGeom>
          <a:noFill/>
          <a:ln/>
        </p:spPr>
        <p:txBody>
          <a:bodyPr wrap="square" lIns="0" tIns="0" rIns="0" bIns="0" rtlCol="0" anchor="ctr"/>
          <a:lstStyle/>
          <a:p>
            <a:pPr indent="0" marL="0">
              <a:lnSpc>
                <a:spcPts val="3400"/>
              </a:lnSpc>
              <a:buNone/>
            </a:pPr>
            <a:r>
              <a:rPr lang="en-US" sz="2800" b="1" dirty="0">
                <a:solidFill>
                  <a:srgbClr val="17211A"/>
                </a:solidFill>
                <a:latin typeface="Meiryo" pitchFamily="34" charset="0"/>
                <a:ea typeface="Meiryo" pitchFamily="34" charset="-122"/>
                <a:cs typeface="Meiryo" pitchFamily="34" charset="-120"/>
              </a:rPr>
              <a:t>何かが失敗しても、使える部分は残す</a:t>
            </a:r>
            <a:endParaRPr lang="en-US" sz="2800" dirty="0"/>
          </a:p>
        </p:txBody>
      </p:sp>
      <p:sp>
        <p:nvSpPr>
          <p:cNvPr id="6" name="Shape 3"/>
          <p:cNvSpPr/>
          <p:nvPr/>
        </p:nvSpPr>
        <p:spPr>
          <a:xfrm>
            <a:off x="566928" y="1783080"/>
            <a:ext cx="3520440" cy="1783080"/>
          </a:xfrm>
          <a:prstGeom prst="roundRect">
            <a:avLst>
              <a:gd name="adj" fmla="val 2564"/>
            </a:avLst>
          </a:prstGeom>
          <a:solidFill>
            <a:srgbClr val="F3F6F1"/>
          </a:solidFill>
          <a:ln w="12700">
            <a:solidFill>
              <a:srgbClr val="333333"/>
            </a:solidFill>
            <a:prstDash val="solid"/>
          </a:ln>
        </p:spPr>
      </p:sp>
      <p:sp>
        <p:nvSpPr>
          <p:cNvPr id="7" name="Text 4"/>
          <p:cNvSpPr txBox="1"/>
          <p:nvPr/>
        </p:nvSpPr>
        <p:spPr>
          <a:xfrm>
            <a:off x="841248" y="2011680"/>
            <a:ext cx="297180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地図が読めない</a:t>
            </a:r>
            <a:endParaRPr lang="en-US" sz="1500" dirty="0"/>
          </a:p>
        </p:txBody>
      </p:sp>
      <p:sp>
        <p:nvSpPr>
          <p:cNvPr id="8" name="Text 5"/>
          <p:cNvSpPr txBox="1"/>
          <p:nvPr/>
        </p:nvSpPr>
        <p:spPr>
          <a:xfrm>
            <a:off x="841248" y="2450592"/>
            <a:ext cx="2971800" cy="91440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施設一覧とGoogleマップの経路は使えるまま。「地図で見る」だけを無効化します。</a:t>
            </a:r>
            <a:endParaRPr lang="en-US" sz="1200" dirty="0"/>
          </a:p>
        </p:txBody>
      </p:sp>
      <p:sp>
        <p:nvSpPr>
          <p:cNvPr id="9" name="Shape 6"/>
          <p:cNvSpPr/>
          <p:nvPr/>
        </p:nvSpPr>
        <p:spPr>
          <a:xfrm>
            <a:off x="4315968" y="1783080"/>
            <a:ext cx="3520440" cy="1783080"/>
          </a:xfrm>
          <a:prstGeom prst="roundRect">
            <a:avLst>
              <a:gd name="adj" fmla="val 2564"/>
            </a:avLst>
          </a:prstGeom>
          <a:solidFill>
            <a:srgbClr val="F3F6F1"/>
          </a:solidFill>
          <a:ln w="12700">
            <a:solidFill>
              <a:srgbClr val="333333"/>
            </a:solidFill>
            <a:prstDash val="solid"/>
          </a:ln>
        </p:spPr>
      </p:sp>
      <p:sp>
        <p:nvSpPr>
          <p:cNvPr id="10" name="Text 7"/>
          <p:cNvSpPr txBox="1"/>
          <p:nvPr/>
        </p:nvSpPr>
        <p:spPr>
          <a:xfrm>
            <a:off x="4590288" y="2011680"/>
            <a:ext cx="297180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施設APIが失敗</a:t>
            </a:r>
            <a:endParaRPr lang="en-US" sz="1500" dirty="0"/>
          </a:p>
        </p:txBody>
      </p:sp>
      <p:sp>
        <p:nvSpPr>
          <p:cNvPr id="11" name="Text 8"/>
          <p:cNvSpPr txBox="1"/>
          <p:nvPr/>
        </p:nvSpPr>
        <p:spPr>
          <a:xfrm>
            <a:off x="4590288" y="2450592"/>
            <a:ext cx="2971800" cy="91440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施設欄だけにエラーと再試行を出し、品目の分別区分や出し方は画面に残します。</a:t>
            </a:r>
            <a:endParaRPr lang="en-US" sz="1200" dirty="0"/>
          </a:p>
        </p:txBody>
      </p:sp>
      <p:sp>
        <p:nvSpPr>
          <p:cNvPr id="12" name="Shape 9"/>
          <p:cNvSpPr/>
          <p:nvPr/>
        </p:nvSpPr>
        <p:spPr>
          <a:xfrm>
            <a:off x="8065008" y="1783080"/>
            <a:ext cx="3520440" cy="1783080"/>
          </a:xfrm>
          <a:prstGeom prst="roundRect">
            <a:avLst>
              <a:gd name="adj" fmla="val 2564"/>
            </a:avLst>
          </a:prstGeom>
          <a:solidFill>
            <a:srgbClr val="F3F6F1"/>
          </a:solidFill>
          <a:ln w="12700">
            <a:solidFill>
              <a:srgbClr val="333333"/>
            </a:solidFill>
            <a:prstDash val="solid"/>
          </a:ln>
        </p:spPr>
      </p:sp>
      <p:sp>
        <p:nvSpPr>
          <p:cNvPr id="13" name="Text 10"/>
          <p:cNvSpPr txBox="1"/>
          <p:nvPr/>
        </p:nvSpPr>
        <p:spPr>
          <a:xfrm>
            <a:off x="8339328" y="2011680"/>
            <a:ext cx="297180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DBが落ちている</a:t>
            </a:r>
            <a:endParaRPr lang="en-US" sz="1500" dirty="0"/>
          </a:p>
        </p:txBody>
      </p:sp>
      <p:sp>
        <p:nvSpPr>
          <p:cNvPr id="14" name="Text 11"/>
          <p:cNvSpPr txBox="1"/>
          <p:nvPr/>
        </p:nvSpPr>
        <p:spPr>
          <a:xfrm>
            <a:off x="8339328" y="2450592"/>
            <a:ext cx="2971800" cy="91440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内部のエラー内容は見せず、利用者向けの案内文と再試行だけを表示します。</a:t>
            </a:r>
            <a:endParaRPr lang="en-US" sz="1200" dirty="0"/>
          </a:p>
        </p:txBody>
      </p:sp>
      <p:sp>
        <p:nvSpPr>
          <p:cNvPr id="15" name="Shape 12"/>
          <p:cNvSpPr/>
          <p:nvPr/>
        </p:nvSpPr>
        <p:spPr>
          <a:xfrm>
            <a:off x="566928" y="3840480"/>
            <a:ext cx="5577840" cy="1691640"/>
          </a:xfrm>
          <a:prstGeom prst="roundRect">
            <a:avLst>
              <a:gd name="adj" fmla="val 2703"/>
            </a:avLst>
          </a:prstGeom>
          <a:solidFill>
            <a:srgbClr val="E4EDE5"/>
          </a:solidFill>
          <a:ln w="12700">
            <a:solidFill>
              <a:srgbClr val="333333"/>
            </a:solidFill>
            <a:prstDash val="solid"/>
          </a:ln>
        </p:spPr>
      </p:sp>
      <p:sp>
        <p:nvSpPr>
          <p:cNvPr id="16" name="Text 13"/>
          <p:cNvSpPr txBox="1"/>
          <p:nvPr/>
        </p:nvSpPr>
        <p:spPr>
          <a:xfrm>
            <a:off x="859536" y="4069080"/>
            <a:ext cx="493776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壊れた状態を、その場で確認できる</a:t>
            </a:r>
            <a:endParaRPr lang="en-US" sz="1500" dirty="0"/>
          </a:p>
        </p:txBody>
      </p:sp>
      <p:sp>
        <p:nvSpPr>
          <p:cNvPr id="17" name="Text 14"/>
          <p:cNvSpPr txBox="1"/>
          <p:nvPr/>
        </p:nvSpPr>
        <p:spPr>
          <a:xfrm>
            <a:off x="859536" y="4434840"/>
            <a:ext cx="4983480" cy="548640"/>
          </a:xfrm>
          <a:prstGeom prst="rect">
            <a:avLst/>
          </a:prstGeom>
          <a:noFill/>
          <a:ln/>
        </p:spPr>
        <p:txBody>
          <a:bodyPr wrap="square" lIns="0" tIns="0" rIns="0" bIns="0" rtlCol="0" anchor="ctr"/>
          <a:lstStyle/>
          <a:p>
            <a:pPr indent="0" marL="0">
              <a:lnSpc>
                <a:spcPts val="1800"/>
              </a:lnSpc>
              <a:buNone/>
            </a:pPr>
            <a:r>
              <a:rPr lang="en-US" sz="1200" dirty="0">
                <a:solidFill>
                  <a:srgbClr val="55655A"/>
                </a:solidFill>
                <a:latin typeface="Meiryo" pitchFamily="34" charset="0"/>
                <a:ea typeface="Meiryo" pitchFamily="34" charset="-122"/>
                <a:cs typeface="Meiryo" pitchFamily="34" charset="-120"/>
              </a:rPr>
              <a:t>読み込み中・0件・エラー・位置情報なしの表示は、URLで直接呼び出して確認できます。</a:t>
            </a:r>
            <a:endParaRPr lang="en-US" sz="1200" dirty="0"/>
          </a:p>
        </p:txBody>
      </p:sp>
      <p:sp>
        <p:nvSpPr>
          <p:cNvPr id="18" name="Text 15"/>
          <p:cNvSpPr txBox="1"/>
          <p:nvPr/>
        </p:nvSpPr>
        <p:spPr>
          <a:xfrm>
            <a:off x="859536" y="5029200"/>
            <a:ext cx="4983480" cy="274320"/>
          </a:xfrm>
          <a:prstGeom prst="rect">
            <a:avLst/>
          </a:prstGeom>
          <a:noFill/>
          <a:ln/>
        </p:spPr>
        <p:txBody>
          <a:bodyPr wrap="square" lIns="0" tIns="0" rIns="0" bIns="0" rtlCol="0" anchor="ctr"/>
          <a:lstStyle/>
          <a:p>
            <a:pPr indent="0" marL="0">
              <a:buNone/>
            </a:pPr>
            <a:r>
              <a:rPr lang="en-US" sz="1300" b="1" dirty="0">
                <a:solidFill>
                  <a:srgbClr val="25392C"/>
                </a:solidFill>
                <a:latin typeface="Meiryo" pitchFamily="34" charset="0"/>
                <a:ea typeface="Meiryo" pitchFamily="34" charset="-122"/>
                <a:cs typeface="Meiryo" pitchFamily="34" charset="-120"/>
              </a:rPr>
              <a:t>/result?state=no-location</a:t>
            </a:r>
            <a:endParaRPr lang="en-US" sz="1300" dirty="0"/>
          </a:p>
        </p:txBody>
      </p:sp>
      <p:sp>
        <p:nvSpPr>
          <p:cNvPr id="19" name="Text 16"/>
          <p:cNvSpPr txBox="1"/>
          <p:nvPr/>
        </p:nvSpPr>
        <p:spPr>
          <a:xfrm>
            <a:off x="6601968" y="3977640"/>
            <a:ext cx="4983480" cy="137160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400" b="1" dirty="0">
                <a:solidFill>
                  <a:srgbClr val="17211A"/>
                </a:solidFill>
                <a:latin typeface="Meiryo" pitchFamily="34" charset="0"/>
                <a:ea typeface="Meiryo" pitchFamily="34" charset="-122"/>
                <a:cs typeface="Meiryo" pitchFamily="34" charset="-120"/>
              </a:rPr>
              <a:t>検索結果0件と、品目データ未登録を区別して案内</a:t>
            </a:r>
            <a:endParaRPr lang="en-US" sz="1400" dirty="0"/>
          </a:p>
          <a:p>
            <a:pPr marL="342900" indent="-342900">
              <a:lnSpc>
                <a:spcPts val="2000"/>
              </a:lnSpc>
              <a:spcAft>
                <a:spcPts val="1000"/>
              </a:spcAft>
              <a:buSzPct val="100000"/>
              <a:buChar char="▪"/>
            </a:pPr>
            <a:r>
              <a:rPr lang="en-US" sz="1400" b="1" dirty="0">
                <a:solidFill>
                  <a:srgbClr val="17211A"/>
                </a:solidFill>
                <a:latin typeface="Meiryo" pitchFamily="34" charset="0"/>
                <a:ea typeface="Meiryo" pitchFamily="34" charset="-122"/>
                <a:cs typeface="Meiryo" pitchFamily="34" charset="-120"/>
              </a:rPr>
              <a:t>不正な品目IDは400、存在しない品目は404、取得失敗は500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566928" y="457200"/>
            <a:ext cx="8412480" cy="274320"/>
          </a:xfrm>
          <a:prstGeom prst="rect">
            <a:avLst/>
          </a:prstGeom>
          <a:noFill/>
          <a:ln/>
        </p:spPr>
        <p:txBody>
          <a:bodyPr wrap="square" lIns="0" tIns="0" rIns="0" bIns="0" rtlCol="0" anchor="ctr"/>
          <a:lstStyle/>
          <a:p>
            <a:pPr indent="0" marL="0">
              <a:buNone/>
            </a:pPr>
            <a:r>
              <a:rPr lang="en-US" sz="1200" b="1" spc="100" kern="0" dirty="0">
                <a:solidFill>
                  <a:srgbClr val="456B52"/>
                </a:solidFill>
                <a:latin typeface="Meiryo" pitchFamily="34" charset="0"/>
                <a:ea typeface="Meiryo" pitchFamily="34" charset="-122"/>
                <a:cs typeface="Meiryo" pitchFamily="34" charset="-120"/>
              </a:rPr>
              <a:t>データと範囲</a:t>
            </a:r>
            <a:endParaRPr lang="en-US" sz="1200" dirty="0"/>
          </a:p>
        </p:txBody>
      </p:sp>
      <p:sp>
        <p:nvSpPr>
          <p:cNvPr id="4" name="Text 1"/>
          <p:cNvSpPr txBox="1"/>
          <p:nvPr/>
        </p:nvSpPr>
        <p:spPr>
          <a:xfrm>
            <a:off x="9613087" y="457200"/>
            <a:ext cx="2011680" cy="274320"/>
          </a:xfrm>
          <a:prstGeom prst="rect">
            <a:avLst/>
          </a:prstGeom>
          <a:noFill/>
          <a:ln/>
        </p:spPr>
        <p:txBody>
          <a:bodyPr wrap="square" lIns="0" tIns="0" rIns="0" bIns="0" rtlCol="0" anchor="ctr"/>
          <a:lstStyle/>
          <a:p>
            <a:pPr algn="r" indent="0" marL="0">
              <a:buNone/>
            </a:pPr>
            <a:r>
              <a:rPr lang="en-US" sz="1100" dirty="0">
                <a:solidFill>
                  <a:srgbClr val="55655A"/>
                </a:solidFill>
                <a:latin typeface="Meiryo" pitchFamily="34" charset="0"/>
                <a:ea typeface="Meiryo" pitchFamily="34" charset="-122"/>
                <a:cs typeface="Meiryo" pitchFamily="34" charset="-120"/>
              </a:rPr>
              <a:t>9:30 / 10:00</a:t>
            </a:r>
            <a:endParaRPr lang="en-US" sz="1100" dirty="0"/>
          </a:p>
        </p:txBody>
      </p:sp>
      <p:sp>
        <p:nvSpPr>
          <p:cNvPr id="5" name="Text 2"/>
          <p:cNvSpPr txBox="1"/>
          <p:nvPr/>
        </p:nvSpPr>
        <p:spPr>
          <a:xfrm>
            <a:off x="566928" y="804672"/>
            <a:ext cx="11057839" cy="685800"/>
          </a:xfrm>
          <a:prstGeom prst="rect">
            <a:avLst/>
          </a:prstGeom>
          <a:noFill/>
          <a:ln/>
        </p:spPr>
        <p:txBody>
          <a:bodyPr wrap="square" lIns="0" tIns="0" rIns="0" bIns="0" rtlCol="0" anchor="ctr"/>
          <a:lstStyle/>
          <a:p>
            <a:pPr indent="0" marL="0">
              <a:lnSpc>
                <a:spcPts val="3400"/>
              </a:lnSpc>
              <a:buNone/>
            </a:pPr>
            <a:r>
              <a:rPr lang="en-US" sz="2800" b="1" dirty="0">
                <a:solidFill>
                  <a:srgbClr val="17211A"/>
                </a:solidFill>
                <a:latin typeface="Meiryo" pitchFamily="34" charset="0"/>
                <a:ea typeface="Meiryo" pitchFamily="34" charset="-122"/>
                <a:cs typeface="Meiryo" pitchFamily="34" charset="-120"/>
              </a:rPr>
              <a:t>すべて千葉市の公開情報が出典</a:t>
            </a:r>
            <a:endParaRPr lang="en-US" sz="2800" dirty="0"/>
          </a:p>
        </p:txBody>
      </p:sp>
      <p:sp>
        <p:nvSpPr>
          <p:cNvPr id="6" name="Shape 3"/>
          <p:cNvSpPr/>
          <p:nvPr/>
        </p:nvSpPr>
        <p:spPr>
          <a:xfrm>
            <a:off x="566928" y="1874520"/>
            <a:ext cx="347472" cy="347472"/>
          </a:xfrm>
          <a:prstGeom prst="roundRect">
            <a:avLst>
              <a:gd name="adj" fmla="val 92105"/>
            </a:avLst>
          </a:prstGeom>
          <a:solidFill>
            <a:srgbClr val="456B52"/>
          </a:solidFill>
          <a:ln w="12700">
            <a:solidFill>
              <a:srgbClr val="333333"/>
            </a:solidFill>
            <a:prstDash val="solid"/>
          </a:ln>
        </p:spPr>
      </p:sp>
      <p:sp>
        <p:nvSpPr>
          <p:cNvPr id="7" name="Text 4"/>
          <p:cNvSpPr txBox="1"/>
          <p:nvPr/>
        </p:nvSpPr>
        <p:spPr>
          <a:xfrm>
            <a:off x="566928" y="18745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8" name="Text 5"/>
          <p:cNvSpPr txBox="1"/>
          <p:nvPr/>
        </p:nvSpPr>
        <p:spPr>
          <a:xfrm>
            <a:off x="1069848" y="1892808"/>
            <a:ext cx="5120640" cy="274320"/>
          </a:xfrm>
          <a:prstGeom prst="rect">
            <a:avLst/>
          </a:prstGeom>
          <a:noFill/>
          <a:ln/>
        </p:spPr>
        <p:txBody>
          <a:bodyPr wrap="square" lIns="0" tIns="0" rIns="0" bIns="0" rtlCol="0" anchor="ctr"/>
          <a:lstStyle/>
          <a:p>
            <a:pPr indent="0" marL="0">
              <a:buNone/>
            </a:pPr>
            <a:r>
              <a:rPr lang="en-US" sz="1400" b="1" dirty="0">
                <a:solidFill>
                  <a:srgbClr val="17211A"/>
                </a:solidFill>
                <a:latin typeface="Meiryo" pitchFamily="34" charset="0"/>
                <a:ea typeface="Meiryo" pitchFamily="34" charset="-122"/>
                <a:cs typeface="Meiryo" pitchFamily="34" charset="-120"/>
              </a:rPr>
              <a:t>千葉市 ごみ分別ガイド</a:t>
            </a:r>
            <a:endParaRPr lang="en-US" sz="1400" dirty="0"/>
          </a:p>
        </p:txBody>
      </p:sp>
      <p:sp>
        <p:nvSpPr>
          <p:cNvPr id="9" name="Text 6"/>
          <p:cNvSpPr txBox="1"/>
          <p:nvPr/>
        </p:nvSpPr>
        <p:spPr>
          <a:xfrm>
            <a:off x="1069848" y="2221992"/>
            <a:ext cx="5120640" cy="274320"/>
          </a:xfrm>
          <a:prstGeom prst="rect">
            <a:avLst/>
          </a:prstGeom>
          <a:noFill/>
          <a:ln/>
        </p:spPr>
        <p:txBody>
          <a:bodyPr wrap="square" lIns="0" tIns="0" rIns="0" bIns="0" rtlCol="0" anchor="ctr"/>
          <a:lstStyle/>
          <a:p>
            <a:pPr indent="0" marL="0">
              <a:buNone/>
            </a:pPr>
            <a:r>
              <a:rPr lang="en-US" sz="1200" dirty="0">
                <a:solidFill>
                  <a:srgbClr val="55655A"/>
                </a:solidFill>
                <a:latin typeface="Meiryo" pitchFamily="34" charset="0"/>
                <a:ea typeface="Meiryo" pitchFamily="34" charset="-122"/>
                <a:cs typeface="Meiryo" pitchFamily="34" charset="-120"/>
              </a:rPr>
              <a:t>品目名・分別区分・出し方・注意事項</a:t>
            </a:r>
            <a:endParaRPr lang="en-US" sz="1200" dirty="0"/>
          </a:p>
        </p:txBody>
      </p:sp>
      <p:sp>
        <p:nvSpPr>
          <p:cNvPr id="10" name="Shape 7"/>
          <p:cNvSpPr/>
          <p:nvPr/>
        </p:nvSpPr>
        <p:spPr>
          <a:xfrm>
            <a:off x="566928" y="2926080"/>
            <a:ext cx="347472" cy="347472"/>
          </a:xfrm>
          <a:prstGeom prst="roundRect">
            <a:avLst>
              <a:gd name="adj" fmla="val 92105"/>
            </a:avLst>
          </a:prstGeom>
          <a:solidFill>
            <a:srgbClr val="456B52"/>
          </a:solidFill>
          <a:ln w="12700">
            <a:solidFill>
              <a:srgbClr val="333333"/>
            </a:solidFill>
            <a:prstDash val="solid"/>
          </a:ln>
        </p:spPr>
      </p:sp>
      <p:sp>
        <p:nvSpPr>
          <p:cNvPr id="11" name="Text 8"/>
          <p:cNvSpPr txBox="1"/>
          <p:nvPr/>
        </p:nvSpPr>
        <p:spPr>
          <a:xfrm>
            <a:off x="566928" y="29260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12" name="Text 9"/>
          <p:cNvSpPr txBox="1"/>
          <p:nvPr/>
        </p:nvSpPr>
        <p:spPr>
          <a:xfrm>
            <a:off x="1069848" y="2944368"/>
            <a:ext cx="5120640" cy="274320"/>
          </a:xfrm>
          <a:prstGeom prst="rect">
            <a:avLst/>
          </a:prstGeom>
          <a:noFill/>
          <a:ln/>
        </p:spPr>
        <p:txBody>
          <a:bodyPr wrap="square" lIns="0" tIns="0" rIns="0" bIns="0" rtlCol="0" anchor="ctr"/>
          <a:lstStyle/>
          <a:p>
            <a:pPr indent="0" marL="0">
              <a:buNone/>
            </a:pPr>
            <a:r>
              <a:rPr lang="en-US" sz="1400" b="1" dirty="0">
                <a:solidFill>
                  <a:srgbClr val="17211A"/>
                </a:solidFill>
                <a:latin typeface="Meiryo" pitchFamily="34" charset="0"/>
                <a:ea typeface="Meiryo" pitchFamily="34" charset="-122"/>
                <a:cs typeface="Meiryo" pitchFamily="34" charset="-120"/>
              </a:rPr>
              <a:t>千葉市 小型家電・充電式電池の回収案内</a:t>
            </a:r>
            <a:endParaRPr lang="en-US" sz="1400" dirty="0"/>
          </a:p>
        </p:txBody>
      </p:sp>
      <p:sp>
        <p:nvSpPr>
          <p:cNvPr id="13" name="Text 10"/>
          <p:cNvSpPr txBox="1"/>
          <p:nvPr/>
        </p:nvSpPr>
        <p:spPr>
          <a:xfrm>
            <a:off x="1069848" y="3273552"/>
            <a:ext cx="5120640" cy="274320"/>
          </a:xfrm>
          <a:prstGeom prst="rect">
            <a:avLst/>
          </a:prstGeom>
          <a:noFill/>
          <a:ln/>
        </p:spPr>
        <p:txBody>
          <a:bodyPr wrap="square" lIns="0" tIns="0" rIns="0" bIns="0" rtlCol="0" anchor="ctr"/>
          <a:lstStyle/>
          <a:p>
            <a:pPr indent="0" marL="0">
              <a:buNone/>
            </a:pPr>
            <a:r>
              <a:rPr lang="en-US" sz="1200" dirty="0">
                <a:solidFill>
                  <a:srgbClr val="55655A"/>
                </a:solidFill>
                <a:latin typeface="Meiryo" pitchFamily="34" charset="0"/>
                <a:ea typeface="Meiryo" pitchFamily="34" charset="-122"/>
                <a:cs typeface="Meiryo" pitchFamily="34" charset="-120"/>
              </a:rPr>
              <a:t>回収種別と対象品目89件</a:t>
            </a:r>
            <a:endParaRPr lang="en-US" sz="1200" dirty="0"/>
          </a:p>
        </p:txBody>
      </p:sp>
      <p:sp>
        <p:nvSpPr>
          <p:cNvPr id="14" name="Shape 11"/>
          <p:cNvSpPr/>
          <p:nvPr/>
        </p:nvSpPr>
        <p:spPr>
          <a:xfrm>
            <a:off x="566928" y="3977640"/>
            <a:ext cx="347472" cy="347472"/>
          </a:xfrm>
          <a:prstGeom prst="roundRect">
            <a:avLst>
              <a:gd name="adj" fmla="val 92105"/>
            </a:avLst>
          </a:prstGeom>
          <a:solidFill>
            <a:srgbClr val="456B52"/>
          </a:solidFill>
          <a:ln w="12700">
            <a:solidFill>
              <a:srgbClr val="333333"/>
            </a:solidFill>
            <a:prstDash val="solid"/>
          </a:ln>
        </p:spPr>
      </p:sp>
      <p:sp>
        <p:nvSpPr>
          <p:cNvPr id="15" name="Text 12"/>
          <p:cNvSpPr txBox="1"/>
          <p:nvPr/>
        </p:nvSpPr>
        <p:spPr>
          <a:xfrm>
            <a:off x="566928" y="39776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16" name="Text 13"/>
          <p:cNvSpPr txBox="1"/>
          <p:nvPr/>
        </p:nvSpPr>
        <p:spPr>
          <a:xfrm>
            <a:off x="1069848" y="3995928"/>
            <a:ext cx="5120640" cy="274320"/>
          </a:xfrm>
          <a:prstGeom prst="rect">
            <a:avLst/>
          </a:prstGeom>
          <a:noFill/>
          <a:ln/>
        </p:spPr>
        <p:txBody>
          <a:bodyPr wrap="square" lIns="0" tIns="0" rIns="0" bIns="0" rtlCol="0" anchor="ctr"/>
          <a:lstStyle/>
          <a:p>
            <a:pPr indent="0" marL="0">
              <a:buNone/>
            </a:pPr>
            <a:r>
              <a:rPr lang="en-US" sz="1400" b="1" dirty="0">
                <a:solidFill>
                  <a:srgbClr val="17211A"/>
                </a:solidFill>
                <a:latin typeface="Meiryo" pitchFamily="34" charset="0"/>
                <a:ea typeface="Meiryo" pitchFamily="34" charset="-122"/>
                <a:cs typeface="Meiryo" pitchFamily="34" charset="-120"/>
              </a:rPr>
              <a:t>千葉市 公共施設位置情報</a:t>
            </a:r>
            <a:endParaRPr lang="en-US" sz="1400" dirty="0"/>
          </a:p>
        </p:txBody>
      </p:sp>
      <p:sp>
        <p:nvSpPr>
          <p:cNvPr id="17" name="Text 14"/>
          <p:cNvSpPr txBox="1"/>
          <p:nvPr/>
        </p:nvSpPr>
        <p:spPr>
          <a:xfrm>
            <a:off x="1069848" y="4325112"/>
            <a:ext cx="5120640" cy="274320"/>
          </a:xfrm>
          <a:prstGeom prst="rect">
            <a:avLst/>
          </a:prstGeom>
          <a:noFill/>
          <a:ln/>
        </p:spPr>
        <p:txBody>
          <a:bodyPr wrap="square" lIns="0" tIns="0" rIns="0" bIns="0" rtlCol="0" anchor="ctr"/>
          <a:lstStyle/>
          <a:p>
            <a:pPr indent="0" marL="0">
              <a:buNone/>
            </a:pPr>
            <a:r>
              <a:rPr lang="en-US" sz="1200" dirty="0">
                <a:solidFill>
                  <a:srgbClr val="55655A"/>
                </a:solidFill>
                <a:latin typeface="Meiryo" pitchFamily="34" charset="0"/>
                <a:ea typeface="Meiryo" pitchFamily="34" charset="-122"/>
                <a:cs typeface="Meiryo" pitchFamily="34" charset="-120"/>
              </a:rPr>
              <a:t>施設30件の住所・緯度経度</a:t>
            </a:r>
            <a:endParaRPr lang="en-US" sz="1200" dirty="0"/>
          </a:p>
        </p:txBody>
      </p:sp>
      <p:sp>
        <p:nvSpPr>
          <p:cNvPr id="18" name="Shape 15"/>
          <p:cNvSpPr/>
          <p:nvPr/>
        </p:nvSpPr>
        <p:spPr>
          <a:xfrm>
            <a:off x="6675120" y="1783080"/>
            <a:ext cx="4937760" cy="3246120"/>
          </a:xfrm>
          <a:prstGeom prst="roundRect">
            <a:avLst>
              <a:gd name="adj" fmla="val 1408"/>
            </a:avLst>
          </a:prstGeom>
          <a:solidFill>
            <a:srgbClr val="F3F6F1"/>
          </a:solidFill>
          <a:ln w="12700">
            <a:solidFill>
              <a:srgbClr val="333333"/>
            </a:solidFill>
            <a:prstDash val="solid"/>
          </a:ln>
        </p:spPr>
      </p:sp>
      <p:sp>
        <p:nvSpPr>
          <p:cNvPr id="19" name="Text 16"/>
          <p:cNvSpPr txBox="1"/>
          <p:nvPr/>
        </p:nvSpPr>
        <p:spPr>
          <a:xfrm>
            <a:off x="6967728" y="2011680"/>
            <a:ext cx="4389120" cy="274320"/>
          </a:xfrm>
          <a:prstGeom prst="rect">
            <a:avLst/>
          </a:prstGeom>
          <a:noFill/>
          <a:ln/>
        </p:spPr>
        <p:txBody>
          <a:bodyPr wrap="square" lIns="0" tIns="0" rIns="0" bIns="0" rtlCol="0" anchor="ctr"/>
          <a:lstStyle/>
          <a:p>
            <a:pPr indent="0" marL="0">
              <a:buNone/>
            </a:pPr>
            <a:r>
              <a:rPr lang="en-US" sz="1500" b="1" dirty="0">
                <a:solidFill>
                  <a:srgbClr val="25392C"/>
                </a:solidFill>
                <a:latin typeface="Meiryo" pitchFamily="34" charset="0"/>
                <a:ea typeface="Meiryo" pitchFamily="34" charset="-122"/>
                <a:cs typeface="Meiryo" pitchFamily="34" charset="-120"/>
              </a:rPr>
              <a:t>今回やらないと決めたこと</a:t>
            </a:r>
            <a:endParaRPr lang="en-US" sz="1500" dirty="0"/>
          </a:p>
        </p:txBody>
      </p:sp>
      <p:sp>
        <p:nvSpPr>
          <p:cNvPr id="20" name="Text 17"/>
          <p:cNvSpPr txBox="1"/>
          <p:nvPr/>
        </p:nvSpPr>
        <p:spPr>
          <a:xfrm>
            <a:off x="6967728" y="2468880"/>
            <a:ext cx="4343400" cy="228600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00" b="1" dirty="0">
                <a:solidFill>
                  <a:srgbClr val="17211A"/>
                </a:solidFill>
                <a:latin typeface="Meiryo" pitchFamily="34" charset="0"/>
                <a:ea typeface="Meiryo" pitchFamily="34" charset="-122"/>
                <a:cs typeface="Meiryo" pitchFamily="34" charset="-120"/>
              </a:rPr>
              <a:t>道路に沿った距離・所要時間の計算</a:t>
            </a:r>
            <a:endParaRPr lang="en-US" sz="1300" dirty="0"/>
          </a:p>
          <a:p>
            <a:pPr marL="342900" indent="-342900">
              <a:lnSpc>
                <a:spcPts val="2000"/>
              </a:lnSpc>
              <a:spcAft>
                <a:spcPts val="200"/>
              </a:spcAft>
              <a:buSzPct val="100000"/>
              <a:buChar char="▪"/>
            </a:pPr>
            <a:r>
              <a:rPr lang="en-US" sz="1300" b="1" dirty="0">
                <a:solidFill>
                  <a:srgbClr val="17211A"/>
                </a:solidFill>
                <a:latin typeface="Meiryo" pitchFamily="34" charset="0"/>
                <a:ea typeface="Meiryo" pitchFamily="34" charset="-122"/>
                <a:cs typeface="Meiryo" pitchFamily="34" charset="-120"/>
              </a:rPr>
              <a:t>営業中／時間外、祝日、臨時休館の自動判定</a:t>
            </a:r>
            <a:endParaRPr lang="en-US" sz="1300" dirty="0"/>
          </a:p>
          <a:p>
            <a:pPr lvl="1" indent="0" marL="0">
              <a:lnSpc>
                <a:spcPts val="2000"/>
              </a:lnSpc>
              <a:spcAft>
                <a:spcPts val="1000"/>
              </a:spcAft>
              <a:buNone/>
            </a:pPr>
            <a:r>
              <a:rPr lang="en-US" sz="1000" dirty="0">
                <a:solidFill>
                  <a:srgbClr val="55655A"/>
                </a:solidFill>
                <a:latin typeface="Meiryo" pitchFamily="34" charset="0"/>
                <a:ea typeface="Meiryo" pitchFamily="34" charset="-122"/>
                <a:cs typeface="Meiryo" pitchFamily="34" charset="-120"/>
              </a:rPr>
              <a:t>利用時間はDBの文字列をそのまま表示</a:t>
            </a:r>
            <a:endParaRPr lang="en-US" sz="1300" dirty="0"/>
          </a:p>
          <a:p>
            <a:pPr marL="342900" indent="-342900">
              <a:lnSpc>
                <a:spcPts val="2000"/>
              </a:lnSpc>
              <a:spcAft>
                <a:spcPts val="1000"/>
              </a:spcAft>
              <a:buSzPct val="100000"/>
              <a:buChar char="▪"/>
            </a:pPr>
            <a:r>
              <a:rPr lang="en-US" sz="1300" b="1" dirty="0">
                <a:solidFill>
                  <a:srgbClr val="17211A"/>
                </a:solidFill>
                <a:latin typeface="Meiryo" pitchFamily="34" charset="0"/>
                <a:ea typeface="Meiryo" pitchFamily="34" charset="-122"/>
                <a:cs typeface="Meiryo" pitchFamily="34" charset="-120"/>
              </a:rPr>
              <a:t>ログイン、管理画面、データの自動更新</a:t>
            </a:r>
            <a:endParaRPr lang="en-US" sz="1300" dirty="0"/>
          </a:p>
        </p:txBody>
      </p:sp>
      <p:sp>
        <p:nvSpPr>
          <p:cNvPr id="21" name="Text 18"/>
          <p:cNvSpPr txBox="1"/>
          <p:nvPr/>
        </p:nvSpPr>
        <p:spPr>
          <a:xfrm>
            <a:off x="566928" y="5669280"/>
            <a:ext cx="9601200" cy="274320"/>
          </a:xfrm>
          <a:prstGeom prst="rect">
            <a:avLst/>
          </a:prstGeom>
          <a:noFill/>
          <a:ln/>
        </p:spPr>
        <p:txBody>
          <a:bodyPr wrap="square" lIns="0" tIns="0" rIns="0" bIns="0" rtlCol="0" anchor="ctr"/>
          <a:lstStyle/>
          <a:p>
            <a:pPr indent="0" marL="0">
              <a:buNone/>
            </a:pPr>
            <a:r>
              <a:rPr lang="en-US" sz="1100" dirty="0">
                <a:solidFill>
                  <a:srgbClr val="55655A"/>
                </a:solidFill>
                <a:latin typeface="Meiryo" pitchFamily="34" charset="0"/>
                <a:ea typeface="Meiryo" pitchFamily="34" charset="-122"/>
                <a:cs typeface="Meiryo" pitchFamily="34" charset="-120"/>
              </a:rPr>
              <a:t>※ 出典はいずれも千葉市の公開データです。品目データは1件ずつ照合記録を残しています。</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5392C"/>
        </a:solidFill>
      </p:bgPr>
    </p:bg>
    <p:spTree>
      <p:nvGrpSpPr>
        <p:cNvPr id="1" name=""/>
        <p:cNvGrpSpPr/>
        <p:nvPr/>
      </p:nvGrpSpPr>
      <p:grpSpPr>
        <a:xfrm>
          <a:off x="0" y="0"/>
          <a:ext cx="0" cy="0"/>
          <a:chOff x="0" y="0"/>
          <a:chExt cx="0" cy="0"/>
        </a:xfrm>
      </p:grpSpPr>
      <p:sp>
        <p:nvSpPr>
          <p:cNvPr id="3" name="Text 0"/>
          <p:cNvSpPr txBox="1"/>
          <p:nvPr/>
        </p:nvSpPr>
        <p:spPr>
          <a:xfrm>
            <a:off x="566928" y="658368"/>
            <a:ext cx="5486400" cy="274320"/>
          </a:xfrm>
          <a:prstGeom prst="rect">
            <a:avLst/>
          </a:prstGeom>
          <a:noFill/>
          <a:ln/>
        </p:spPr>
        <p:txBody>
          <a:bodyPr wrap="square" lIns="0" tIns="0" rIns="0" bIns="0" rtlCol="0" anchor="ctr"/>
          <a:lstStyle/>
          <a:p>
            <a:pPr indent="0" marL="0">
              <a:buNone/>
            </a:pPr>
            <a:r>
              <a:rPr lang="en-US" sz="1300" b="1" spc="100" kern="0" dirty="0">
                <a:solidFill>
                  <a:srgbClr val="E3A93B"/>
                </a:solidFill>
                <a:latin typeface="Meiryo" pitchFamily="34" charset="0"/>
                <a:ea typeface="Meiryo" pitchFamily="34" charset="-122"/>
                <a:cs typeface="Meiryo" pitchFamily="34" charset="-120"/>
              </a:rPr>
              <a:t>まとめ</a:t>
            </a:r>
            <a:endParaRPr lang="en-US" sz="1300" dirty="0"/>
          </a:p>
        </p:txBody>
      </p:sp>
      <p:sp>
        <p:nvSpPr>
          <p:cNvPr id="4" name="Text 1"/>
          <p:cNvSpPr txBox="1"/>
          <p:nvPr/>
        </p:nvSpPr>
        <p:spPr>
          <a:xfrm>
            <a:off x="566928" y="1234440"/>
            <a:ext cx="10515600" cy="1737360"/>
          </a:xfrm>
          <a:prstGeom prst="rect">
            <a:avLst/>
          </a:prstGeom>
          <a:noFill/>
          <a:ln/>
        </p:spPr>
        <p:txBody>
          <a:bodyPr wrap="square" lIns="0" tIns="0" rIns="0" bIns="0" rtlCol="0" anchor="ctr"/>
          <a:lstStyle/>
          <a:p>
            <a:pPr indent="0" marL="0">
              <a:lnSpc>
                <a:spcPts val="5000"/>
              </a:lnSpc>
              <a:buNone/>
            </a:pPr>
            <a:r>
              <a:rPr lang="en-US" sz="3800" b="1" dirty="0">
                <a:solidFill>
                  <a:srgbClr val="FFFFFF"/>
                </a:solidFill>
                <a:latin typeface="Meiryo" pitchFamily="34" charset="0"/>
                <a:ea typeface="Meiryo" pitchFamily="34" charset="-122"/>
                <a:cs typeface="Meiryo" pitchFamily="34" charset="-120"/>
              </a:rPr>
              <a:t>調べ終わった時点で、</a:t>
            </a:r>
            <a:endParaRPr lang="en-US" sz="3800" dirty="0"/>
          </a:p>
          <a:p>
            <a:pPr indent="0" marL="0">
              <a:lnSpc>
                <a:spcPts val="5000"/>
              </a:lnSpc>
              <a:buNone/>
            </a:pPr>
            <a:r>
              <a:rPr lang="en-US" sz="3800" b="1" dirty="0">
                <a:solidFill>
                  <a:srgbClr val="FFFFFF"/>
                </a:solidFill>
                <a:latin typeface="Meiryo" pitchFamily="34" charset="0"/>
                <a:ea typeface="Meiryo" pitchFamily="34" charset="-122"/>
                <a:cs typeface="Meiryo" pitchFamily="34" charset="-120"/>
              </a:rPr>
              <a:t>もう行き先が決まっている。</a:t>
            </a:r>
            <a:endParaRPr lang="en-US" sz="3800" dirty="0"/>
          </a:p>
        </p:txBody>
      </p:sp>
      <p:sp>
        <p:nvSpPr>
          <p:cNvPr id="5" name="Shape 2"/>
          <p:cNvSpPr/>
          <p:nvPr/>
        </p:nvSpPr>
        <p:spPr>
          <a:xfrm>
            <a:off x="566928" y="3429000"/>
            <a:ext cx="3520440" cy="1691640"/>
          </a:xfrm>
          <a:prstGeom prst="roundRect">
            <a:avLst>
              <a:gd name="adj" fmla="val 2703"/>
            </a:avLst>
          </a:prstGeom>
          <a:solidFill>
            <a:srgbClr val="2F4637"/>
          </a:solidFill>
          <a:ln w="12700">
            <a:solidFill>
              <a:srgbClr val="333333"/>
            </a:solidFill>
            <a:prstDash val="solid"/>
          </a:ln>
        </p:spPr>
      </p:sp>
      <p:sp>
        <p:nvSpPr>
          <p:cNvPr id="6" name="Text 3"/>
          <p:cNvSpPr txBox="1"/>
          <p:nvPr/>
        </p:nvSpPr>
        <p:spPr>
          <a:xfrm>
            <a:off x="841248" y="3657600"/>
            <a:ext cx="2971800" cy="274320"/>
          </a:xfrm>
          <a:prstGeom prst="rect">
            <a:avLst/>
          </a:prstGeom>
          <a:noFill/>
          <a:ln/>
        </p:spPr>
        <p:txBody>
          <a:bodyPr wrap="square" lIns="0" tIns="0" rIns="0" bIns="0" rtlCol="0" anchor="ctr"/>
          <a:lstStyle/>
          <a:p>
            <a:pPr indent="0" marL="0">
              <a:buNone/>
            </a:pPr>
            <a:r>
              <a:rPr lang="en-US" sz="1500" b="1" dirty="0">
                <a:solidFill>
                  <a:srgbClr val="E3A93B"/>
                </a:solidFill>
                <a:latin typeface="Meiryo" pitchFamily="34" charset="0"/>
                <a:ea typeface="Meiryo" pitchFamily="34" charset="-122"/>
                <a:cs typeface="Meiryo" pitchFamily="34" charset="-120"/>
              </a:rPr>
              <a:t>できたこと</a:t>
            </a:r>
            <a:endParaRPr lang="en-US" sz="1500" dirty="0"/>
          </a:p>
        </p:txBody>
      </p:sp>
      <p:sp>
        <p:nvSpPr>
          <p:cNvPr id="7" name="Text 4"/>
          <p:cNvSpPr txBox="1"/>
          <p:nvPr/>
        </p:nvSpPr>
        <p:spPr>
          <a:xfrm>
            <a:off x="841248" y="4069080"/>
            <a:ext cx="2971800" cy="914400"/>
          </a:xfrm>
          <a:prstGeom prst="rect">
            <a:avLst/>
          </a:prstGeom>
          <a:noFill/>
          <a:ln/>
        </p:spPr>
        <p:txBody>
          <a:bodyPr wrap="square" lIns="0" tIns="0" rIns="0" bIns="0" rtlCol="0" anchor="ctr"/>
          <a:lstStyle/>
          <a:p>
            <a:pPr indent="0" marL="0">
              <a:lnSpc>
                <a:spcPts val="1800"/>
              </a:lnSpc>
              <a:buNone/>
            </a:pPr>
            <a:r>
              <a:rPr lang="en-US" sz="1200" dirty="0">
                <a:solidFill>
                  <a:srgbClr val="E9F0E9"/>
                </a:solidFill>
                <a:latin typeface="Meiryo" pitchFamily="34" charset="0"/>
                <a:ea typeface="Meiryo" pitchFamily="34" charset="-122"/>
                <a:cs typeface="Meiryo" pitchFamily="34" charset="-120"/>
              </a:rPr>
              <a:t>品目検索から回収場所の案内までを、1つの流れにまとめました。</a:t>
            </a:r>
            <a:endParaRPr lang="en-US" sz="1200" dirty="0"/>
          </a:p>
        </p:txBody>
      </p:sp>
      <p:sp>
        <p:nvSpPr>
          <p:cNvPr id="8" name="Shape 5"/>
          <p:cNvSpPr/>
          <p:nvPr/>
        </p:nvSpPr>
        <p:spPr>
          <a:xfrm>
            <a:off x="4315968" y="3429000"/>
            <a:ext cx="3520440" cy="1691640"/>
          </a:xfrm>
          <a:prstGeom prst="roundRect">
            <a:avLst>
              <a:gd name="adj" fmla="val 2703"/>
            </a:avLst>
          </a:prstGeom>
          <a:solidFill>
            <a:srgbClr val="2F4637"/>
          </a:solidFill>
          <a:ln w="12700">
            <a:solidFill>
              <a:srgbClr val="333333"/>
            </a:solidFill>
            <a:prstDash val="solid"/>
          </a:ln>
        </p:spPr>
      </p:sp>
      <p:sp>
        <p:nvSpPr>
          <p:cNvPr id="9" name="Text 6"/>
          <p:cNvSpPr txBox="1"/>
          <p:nvPr/>
        </p:nvSpPr>
        <p:spPr>
          <a:xfrm>
            <a:off x="4590288" y="3657600"/>
            <a:ext cx="2971800" cy="274320"/>
          </a:xfrm>
          <a:prstGeom prst="rect">
            <a:avLst/>
          </a:prstGeom>
          <a:noFill/>
          <a:ln/>
        </p:spPr>
        <p:txBody>
          <a:bodyPr wrap="square" lIns="0" tIns="0" rIns="0" bIns="0" rtlCol="0" anchor="ctr"/>
          <a:lstStyle/>
          <a:p>
            <a:pPr indent="0" marL="0">
              <a:buNone/>
            </a:pPr>
            <a:r>
              <a:rPr lang="en-US" sz="1500" b="1" dirty="0">
                <a:solidFill>
                  <a:srgbClr val="E3A93B"/>
                </a:solidFill>
                <a:latin typeface="Meiryo" pitchFamily="34" charset="0"/>
                <a:ea typeface="Meiryo" pitchFamily="34" charset="-122"/>
                <a:cs typeface="Meiryo" pitchFamily="34" charset="-120"/>
              </a:rPr>
              <a:t>大事にしたこと</a:t>
            </a:r>
            <a:endParaRPr lang="en-US" sz="1500" dirty="0"/>
          </a:p>
        </p:txBody>
      </p:sp>
      <p:sp>
        <p:nvSpPr>
          <p:cNvPr id="10" name="Text 7"/>
          <p:cNvSpPr txBox="1"/>
          <p:nvPr/>
        </p:nvSpPr>
        <p:spPr>
          <a:xfrm>
            <a:off x="4590288" y="4069080"/>
            <a:ext cx="2971800" cy="914400"/>
          </a:xfrm>
          <a:prstGeom prst="rect">
            <a:avLst/>
          </a:prstGeom>
          <a:noFill/>
          <a:ln/>
        </p:spPr>
        <p:txBody>
          <a:bodyPr wrap="square" lIns="0" tIns="0" rIns="0" bIns="0" rtlCol="0" anchor="ctr"/>
          <a:lstStyle/>
          <a:p>
            <a:pPr indent="0" marL="0">
              <a:lnSpc>
                <a:spcPts val="1800"/>
              </a:lnSpc>
              <a:buNone/>
            </a:pPr>
            <a:r>
              <a:rPr lang="en-US" sz="1200" dirty="0">
                <a:solidFill>
                  <a:srgbClr val="E9F0E9"/>
                </a:solidFill>
                <a:latin typeface="Meiryo" pitchFamily="34" charset="0"/>
                <a:ea typeface="Meiryo" pitchFamily="34" charset="-122"/>
                <a:cs typeface="Meiryo" pitchFamily="34" charset="-120"/>
              </a:rPr>
              <a:t>位置情報を保存せず、許可しない人にも同じ情報が届く設計にしました。</a:t>
            </a:r>
            <a:endParaRPr lang="en-US" sz="1200" dirty="0"/>
          </a:p>
        </p:txBody>
      </p:sp>
      <p:sp>
        <p:nvSpPr>
          <p:cNvPr id="11" name="Shape 8"/>
          <p:cNvSpPr/>
          <p:nvPr/>
        </p:nvSpPr>
        <p:spPr>
          <a:xfrm>
            <a:off x="8065008" y="3429000"/>
            <a:ext cx="3520440" cy="1691640"/>
          </a:xfrm>
          <a:prstGeom prst="roundRect">
            <a:avLst>
              <a:gd name="adj" fmla="val 2703"/>
            </a:avLst>
          </a:prstGeom>
          <a:solidFill>
            <a:srgbClr val="2F4637"/>
          </a:solidFill>
          <a:ln w="12700">
            <a:solidFill>
              <a:srgbClr val="333333"/>
            </a:solidFill>
            <a:prstDash val="solid"/>
          </a:ln>
        </p:spPr>
      </p:sp>
      <p:sp>
        <p:nvSpPr>
          <p:cNvPr id="12" name="Text 9"/>
          <p:cNvSpPr txBox="1"/>
          <p:nvPr/>
        </p:nvSpPr>
        <p:spPr>
          <a:xfrm>
            <a:off x="8339328" y="3657600"/>
            <a:ext cx="2971800" cy="274320"/>
          </a:xfrm>
          <a:prstGeom prst="rect">
            <a:avLst/>
          </a:prstGeom>
          <a:noFill/>
          <a:ln/>
        </p:spPr>
        <p:txBody>
          <a:bodyPr wrap="square" lIns="0" tIns="0" rIns="0" bIns="0" rtlCol="0" anchor="ctr"/>
          <a:lstStyle/>
          <a:p>
            <a:pPr indent="0" marL="0">
              <a:buNone/>
            </a:pPr>
            <a:r>
              <a:rPr lang="en-US" sz="1500" b="1" dirty="0">
                <a:solidFill>
                  <a:srgbClr val="E3A93B"/>
                </a:solidFill>
                <a:latin typeface="Meiryo" pitchFamily="34" charset="0"/>
                <a:ea typeface="Meiryo" pitchFamily="34" charset="-122"/>
                <a:cs typeface="Meiryo" pitchFamily="34" charset="-120"/>
              </a:rPr>
              <a:t>次にやること</a:t>
            </a:r>
            <a:endParaRPr lang="en-US" sz="1500" dirty="0"/>
          </a:p>
        </p:txBody>
      </p:sp>
      <p:sp>
        <p:nvSpPr>
          <p:cNvPr id="13" name="Text 10"/>
          <p:cNvSpPr txBox="1"/>
          <p:nvPr/>
        </p:nvSpPr>
        <p:spPr>
          <a:xfrm>
            <a:off x="8339328" y="4069080"/>
            <a:ext cx="2971800" cy="914400"/>
          </a:xfrm>
          <a:prstGeom prst="rect">
            <a:avLst/>
          </a:prstGeom>
          <a:noFill/>
          <a:ln/>
        </p:spPr>
        <p:txBody>
          <a:bodyPr wrap="square" lIns="0" tIns="0" rIns="0" bIns="0" rtlCol="0" anchor="ctr"/>
          <a:lstStyle/>
          <a:p>
            <a:pPr indent="0" marL="0">
              <a:lnSpc>
                <a:spcPts val="1800"/>
              </a:lnSpc>
              <a:buNone/>
            </a:pPr>
            <a:r>
              <a:rPr lang="en-US" sz="1200" dirty="0">
                <a:solidFill>
                  <a:srgbClr val="E9F0E9"/>
                </a:solidFill>
                <a:latin typeface="Meiryo" pitchFamily="34" charset="0"/>
                <a:ea typeface="Meiryo" pitchFamily="34" charset="-122"/>
                <a:cs typeface="Meiryo" pitchFamily="34" charset="-120"/>
              </a:rPr>
              <a:t>所要時間の表示、開館情報の更新、公式データ取り込みの自動化。</a:t>
            </a:r>
            <a:endParaRPr lang="en-US" sz="1200" dirty="0"/>
          </a:p>
        </p:txBody>
      </p:sp>
      <p:sp>
        <p:nvSpPr>
          <p:cNvPr id="14" name="Text 11"/>
          <p:cNvSpPr txBox="1"/>
          <p:nvPr/>
        </p:nvSpPr>
        <p:spPr>
          <a:xfrm>
            <a:off x="566928" y="5806440"/>
            <a:ext cx="7315200" cy="274320"/>
          </a:xfrm>
          <a:prstGeom prst="rect">
            <a:avLst/>
          </a:prstGeom>
          <a:noFill/>
          <a:ln/>
        </p:spPr>
        <p:txBody>
          <a:bodyPr wrap="square" lIns="0" tIns="0" rIns="0" bIns="0" rtlCol="0" anchor="ctr"/>
          <a:lstStyle/>
          <a:p>
            <a:pPr indent="0" marL="0">
              <a:buNone/>
            </a:pPr>
            <a:r>
              <a:rPr lang="en-US" sz="1300" dirty="0">
                <a:solidFill>
                  <a:srgbClr val="E9F0E9"/>
                </a:solidFill>
                <a:latin typeface="Meiryo" pitchFamily="34" charset="0"/>
                <a:ea typeface="Meiryo" pitchFamily="34" charset="-122"/>
                <a:cs typeface="Meiryo" pitchFamily="34" charset="-120"/>
              </a:rPr>
              <a:t>チーム角煮　大久保壮葵・大菅海兎・梅澤颯太・薄井悠希</a:t>
            </a:r>
            <a:endParaRPr lang="en-US" sz="1300" dirty="0"/>
          </a:p>
        </p:txBody>
      </p:sp>
      <p:sp>
        <p:nvSpPr>
          <p:cNvPr id="15" name="Text 12"/>
          <p:cNvSpPr txBox="1"/>
          <p:nvPr/>
        </p:nvSpPr>
        <p:spPr>
          <a:xfrm>
            <a:off x="7052767" y="5806440"/>
            <a:ext cx="4572000" cy="274320"/>
          </a:xfrm>
          <a:prstGeom prst="rect">
            <a:avLst/>
          </a:prstGeom>
          <a:noFill/>
          <a:ln/>
        </p:spPr>
        <p:txBody>
          <a:bodyPr wrap="square" lIns="0" tIns="0" rIns="0" bIns="0" rtlCol="0" anchor="ctr"/>
          <a:lstStyle/>
          <a:p>
            <a:pPr algn="r" indent="0" marL="0">
              <a:buNone/>
            </a:pPr>
            <a:r>
              <a:rPr lang="en-US" sz="1200" dirty="0">
                <a:solidFill>
                  <a:srgbClr val="A9BFAE"/>
                </a:solidFill>
                <a:latin typeface="Meiryo" pitchFamily="34" charset="0"/>
                <a:ea typeface="Meiryo" pitchFamily="34" charset="-122"/>
                <a:cs typeface="Meiryo" pitchFamily="34" charset="-120"/>
              </a:rPr>
              <a:t>docker compose up --build → http://localhost:3000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CODIHA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CODIHA 10分ピッチ</dc:title>
  <dc:subject>PptxGenJS Presentation</dc:subject>
  <dc:creator>チーム角煮</dc:creator>
  <cp:lastModifiedBy>チーム角煮</cp:lastModifiedBy>
  <cp:revision>1</cp:revision>
  <dcterms:created xsi:type="dcterms:W3CDTF">2026-09-14T02:18:13Z</dcterms:created>
  <dcterms:modified xsi:type="dcterms:W3CDTF">2026-09-14T02:18:13Z</dcterms:modified>
</cp:coreProperties>
</file>