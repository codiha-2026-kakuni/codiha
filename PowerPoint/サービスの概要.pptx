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23"/>
  </p:normalViewPr>
  <p:slideViewPr>
    <p:cSldViewPr snapToGrid="0">
      <p:cViewPr varScale="1">
        <p:scale>
          <a:sx n="117" d="100"/>
          <a:sy n="117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F0509-8D02-0F40-AC00-6A633D6E7202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BA340-B9B2-8D42-A76B-A6CAAEF7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64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完成したらスクショを追加、図の数やタイトルは適宜調整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BA340-B9B2-8D42-A76B-A6CAAEF7EC4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95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EBB54F-87D3-ED5F-325C-D9ACFBFA7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A31520-CF91-6204-ABE8-4C4FFBC62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3400C5-5366-78A2-CBBC-AD49D704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C108D-1BF7-BDF1-50DA-C94EA7D6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F46A4-91C4-7388-4E58-5523ED3F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94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468F2-D4C1-36D8-64CC-5F11BC7F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668685-D4BC-7577-0BCA-714536F4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823991-C3AA-22EB-0D60-5047268E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5485AD-D981-06E2-3FFB-BA17469C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DB39A-E7C9-E3BC-9C67-9A61A80C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0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FA935-10B9-2AA9-6C27-ED6C703A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FF0E18-E3B9-2762-99E7-B1053B13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28DCBE-C5D1-DF5B-F943-942B3F08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AEFA7-D160-AED8-F368-55C70C95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7452B5-1760-AEDB-186F-B3A35101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22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B2DB2-CAB1-C15E-565A-BEA6B42E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429B67-3D57-27AA-AD9B-B2FB3C7B5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BFB5DB-7DF5-7DD7-4E98-A30B1DA14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AC0F07-D58B-A16E-4C4D-46305928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B716F-7203-1978-7460-8B8FD6BA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A7D34E-9077-66A8-373E-1B37F0BB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21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EF8D5-CEEE-085C-0F85-7080B418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755790-99A8-9255-EB2B-8087A8D8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9CE612-698B-84C7-6BA5-DC0CDA4D4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D24837-C9A1-6928-7DB9-AE13D3C62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04F055-F5AC-B1C9-D384-B8F9772BE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3BF919-4D82-6A86-2DD0-AD185FAB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B480602-98AD-2C24-597A-F1C8CB72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4A82D6-8301-F01F-63F0-6665B7B4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062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5BFF8D-BE9E-C352-6DB9-B60443AF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6FBD22-0E3A-F1C1-B63A-BDA501D1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6315C7-6F11-4779-A343-770606DA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F8488C-9136-CAC2-BD9E-388205F2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9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EDFBD4-662E-42A0-3DC5-2B43E2F3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28F8AD-B208-D49B-9469-6B20A988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BD504D-DE73-4EFE-AA6E-911D87BE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66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1C330C-C008-A657-E32A-539EAF2D4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023ACA-AFD7-961B-2B8C-E4946789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BFBB1D-2A2A-114A-DE82-AE8E227E1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E5D54-16D2-5DE0-EC08-71B94184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4410FC-4AA2-1C10-A02D-30DA0B69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A9E86C-445B-87C0-93C0-617BB514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3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20E5D-92A4-D73B-5E92-63FC74CF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DF8408-39D3-4C3B-0DA3-D420F384F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75FBC3-2385-5B22-2122-DC67D2284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A28022-0C46-4E48-443D-D9CE4761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D9E45F-764A-3305-937C-5364DFB7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C9C389-41C1-58C4-9E3E-EC885069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66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3B42C-7A36-6ACD-6121-39D5EBA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0A1F18-285D-3290-7DED-57505D97C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B8574C-7036-8773-783A-31F4DC33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97220B-F89E-678E-4733-056E4922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96E00-C1DF-2B73-7DC3-D2927B0E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56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A8F318-A590-6D99-C6E2-CBCF6D161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A94C23-42F9-45E4-08C0-75CA4F79E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ED8C77-093E-561E-0402-F5B92D26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57500D-599A-18F0-6EB3-8E4E4490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503964-2DA5-2B4A-79E2-3C60F810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02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C4A803-1CCC-7E15-5CFD-AC15775C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D867B5-08B6-09CE-73B8-4C4287C6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17F94C-2912-D611-1812-B0A42F60C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3EF3D-1DFB-8245-BD00-4C84700CC98F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60CEBA-B060-D652-BFD8-F94073939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C1A08-B6FA-6954-7602-942A096CB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25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E107C-DED6-7008-C86A-810D31875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サービスの概要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A11A0D-5DBC-D150-EF9E-9FD268513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4014"/>
            <a:ext cx="9144000" cy="1655762"/>
          </a:xfrm>
        </p:spPr>
        <p:txBody>
          <a:bodyPr/>
          <a:lstStyle/>
          <a:p>
            <a:r>
              <a:rPr kumimoji="1" lang="ja-JP" altLang="en-US"/>
              <a:t>チーム名：角煮</a:t>
            </a:r>
            <a:endParaRPr kumimoji="1" lang="en-US" altLang="ja-JP" dirty="0"/>
          </a:p>
          <a:p>
            <a:r>
              <a:rPr lang="ja-JP" altLang="en-US"/>
              <a:t>メンバー：大久保壮葵・大菅海兎・梅澤颯太・薄井悠希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99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C87D0-9695-7266-D990-36FFE62A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1. </a:t>
            </a:r>
            <a:r>
              <a:rPr kumimoji="1" lang="ja-JP" altLang="en-US" sz="3200" b="1"/>
              <a:t>サービスの目的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60675F-DD1D-80BC-C6B7-224177BE0446}"/>
              </a:ext>
            </a:extLst>
          </p:cNvPr>
          <p:cNvSpPr txBox="1"/>
          <p:nvPr/>
        </p:nvSpPr>
        <p:spPr>
          <a:xfrm>
            <a:off x="354106" y="1369454"/>
            <a:ext cx="595547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① </a:t>
            </a:r>
            <a:r>
              <a:rPr kumimoji="1" lang="ja-JP" altLang="en-US" b="1"/>
              <a:t>背景と課題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千葉市では、特定のゴミを捨てる際、</a:t>
            </a:r>
            <a:endParaRPr kumimoji="1" lang="en-US" altLang="ja-JP" dirty="0"/>
          </a:p>
          <a:p>
            <a:r>
              <a:rPr kumimoji="1" lang="ja-JP" altLang="en-US"/>
              <a:t>特に小型家電では、複数のステップを踏む必要がある。</a:t>
            </a:r>
            <a:endParaRPr kumimoji="1" lang="en-US" altLang="ja-JP" dirty="0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2169D95-ADE6-4270-9CD7-22E2AC060316}"/>
              </a:ext>
            </a:extLst>
          </p:cNvPr>
          <p:cNvGrpSpPr/>
          <p:nvPr/>
        </p:nvGrpSpPr>
        <p:grpSpPr>
          <a:xfrm>
            <a:off x="541058" y="2722607"/>
            <a:ext cx="5455023" cy="1519445"/>
            <a:chOff x="354106" y="2598167"/>
            <a:chExt cx="5455023" cy="1519445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D02811B-F258-6536-F76C-53CA48A8B087}"/>
                </a:ext>
              </a:extLst>
            </p:cNvPr>
            <p:cNvSpPr/>
            <p:nvPr/>
          </p:nvSpPr>
          <p:spPr>
            <a:xfrm>
              <a:off x="354106" y="2598167"/>
              <a:ext cx="5455023" cy="151944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95EDD50-06AF-54B7-6282-C673D9AF0E2E}"/>
                </a:ext>
              </a:extLst>
            </p:cNvPr>
            <p:cNvSpPr txBox="1"/>
            <p:nvPr/>
          </p:nvSpPr>
          <p:spPr>
            <a:xfrm>
              <a:off x="478167" y="2757725"/>
              <a:ext cx="52068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kumimoji="1" lang="ja-JP" altLang="en-US"/>
                <a:t>千葉市</a:t>
              </a:r>
              <a:r>
                <a:rPr kumimoji="1" lang="en-US" altLang="ja-JP" dirty="0"/>
                <a:t>HP</a:t>
              </a:r>
              <a:r>
                <a:rPr kumimoji="1" lang="ja-JP" altLang="en-US"/>
                <a:t>やゴミ分別アプリで品目を検索する</a:t>
              </a:r>
              <a:endParaRPr kumimoji="1" lang="en-US" altLang="ja-JP" dirty="0"/>
            </a:p>
            <a:p>
              <a:pPr marL="342900" indent="-342900">
                <a:buAutoNum type="arabicPeriod"/>
              </a:pPr>
              <a:r>
                <a:rPr lang="ja-JP" altLang="en-US"/>
                <a:t>持込が必要だと知る</a:t>
              </a:r>
              <a:endParaRPr lang="en-US" altLang="ja-JP" dirty="0"/>
            </a:p>
            <a:p>
              <a:pPr marL="342900" indent="-342900">
                <a:buAutoNum type="arabicPeriod"/>
              </a:pPr>
              <a:r>
                <a:rPr kumimoji="1" lang="ja-JP" altLang="en-US"/>
                <a:t>最寄りの持込先はどこか一覧から探す</a:t>
              </a:r>
              <a:endParaRPr kumimoji="1" lang="en-US" altLang="ja-JP" dirty="0"/>
            </a:p>
            <a:p>
              <a:pPr marL="342900" indent="-342900">
                <a:buAutoNum type="arabicPeriod"/>
              </a:pPr>
              <a:r>
                <a:rPr lang="ja-JP" altLang="en-US"/>
                <a:t>地図アプリで経路を調べる</a:t>
              </a:r>
              <a:endParaRPr kumimoji="1" lang="ja-JP" altLang="en-US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64D3CE-602A-CB38-66FD-FCBA9E3007A8}"/>
              </a:ext>
            </a:extLst>
          </p:cNvPr>
          <p:cNvSpPr txBox="1"/>
          <p:nvPr/>
        </p:nvSpPr>
        <p:spPr>
          <a:xfrm>
            <a:off x="354106" y="4660837"/>
            <a:ext cx="604669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② </a:t>
            </a:r>
            <a:r>
              <a:rPr kumimoji="1" lang="ja-JP" altLang="en-US" b="1"/>
              <a:t>本サービスによる解決策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本アプリでは、これらの工程を一つにまとめ、</a:t>
            </a:r>
            <a:endParaRPr kumimoji="1" lang="en-US" altLang="ja-JP" dirty="0"/>
          </a:p>
          <a:p>
            <a:r>
              <a:rPr kumimoji="1" lang="ja-JP" altLang="en-US"/>
              <a:t>利用者が迷わずに正しくゴミを捨てられるようにする。</a:t>
            </a:r>
            <a:endParaRPr kumimoji="1" lang="en-US" altLang="ja-JP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280AB39-2535-BDC7-BE5A-5E603531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381" y="1369454"/>
            <a:ext cx="2181311" cy="245742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581DB4ED-715A-29D4-E2B0-553FA262D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241" y="1369454"/>
            <a:ext cx="2265701" cy="4537878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E9959C6-CA58-C428-EFB2-CFD9A6310D3A}"/>
              </a:ext>
            </a:extLst>
          </p:cNvPr>
          <p:cNvSpPr txBox="1"/>
          <p:nvPr/>
        </p:nvSpPr>
        <p:spPr>
          <a:xfrm>
            <a:off x="7222311" y="6110648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1-1. </a:t>
            </a:r>
            <a:r>
              <a:rPr kumimoji="1" lang="ja-JP" altLang="en-US" sz="1400"/>
              <a:t>検索画面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748FD57-68A8-C695-D31B-240585908E54}"/>
              </a:ext>
            </a:extLst>
          </p:cNvPr>
          <p:cNvSpPr txBox="1"/>
          <p:nvPr/>
        </p:nvSpPr>
        <p:spPr>
          <a:xfrm>
            <a:off x="9789366" y="6112044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1-2. </a:t>
            </a:r>
            <a:r>
              <a:rPr kumimoji="1" lang="ja-JP" altLang="en-US" sz="1400"/>
              <a:t>詳細画面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C7695E0-6209-9D12-0AE0-9E6D7D9BE3ED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19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54EC-D81D-14E7-6933-FA5B34BF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FFD86-5CF4-E6AB-1A79-C52E3C1A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lang="en-US" altLang="ja-JP" sz="3200" b="1" dirty="0"/>
              <a:t>2</a:t>
            </a:r>
            <a:r>
              <a:rPr kumimoji="1" lang="en-US" altLang="ja-JP" sz="3200" b="1" dirty="0"/>
              <a:t>. </a:t>
            </a:r>
            <a:r>
              <a:rPr kumimoji="1" lang="ja-JP" altLang="en-US" sz="3200" b="1"/>
              <a:t>コンテナの概要</a:t>
            </a:r>
          </a:p>
        </p:txBody>
      </p:sp>
      <p:sp>
        <p:nvSpPr>
          <p:cNvPr id="6" name="直方体 5">
            <a:extLst>
              <a:ext uri="{FF2B5EF4-FFF2-40B4-BE49-F238E27FC236}">
                <a16:creationId xmlns:a16="http://schemas.microsoft.com/office/drawing/2014/main" id="{8248E384-306F-E10E-FC57-F2F6A3EE4FC0}"/>
              </a:ext>
            </a:extLst>
          </p:cNvPr>
          <p:cNvSpPr/>
          <p:nvPr/>
        </p:nvSpPr>
        <p:spPr>
          <a:xfrm>
            <a:off x="9802008" y="4037699"/>
            <a:ext cx="1851215" cy="1640898"/>
          </a:xfrm>
          <a:prstGeom prst="cube">
            <a:avLst>
              <a:gd name="adj" fmla="val 11047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Web</a:t>
            </a:r>
            <a:r>
              <a:rPr kumimoji="1" lang="ja-JP" altLang="en-US"/>
              <a:t>コンテナ</a:t>
            </a:r>
          </a:p>
        </p:txBody>
      </p:sp>
      <p:sp>
        <p:nvSpPr>
          <p:cNvPr id="17" name="円柱 16">
            <a:extLst>
              <a:ext uri="{FF2B5EF4-FFF2-40B4-BE49-F238E27FC236}">
                <a16:creationId xmlns:a16="http://schemas.microsoft.com/office/drawing/2014/main" id="{977C3012-9FC1-39B2-08A4-D4B050B73E5F}"/>
              </a:ext>
            </a:extLst>
          </p:cNvPr>
          <p:cNvSpPr/>
          <p:nvPr/>
        </p:nvSpPr>
        <p:spPr>
          <a:xfrm>
            <a:off x="5873358" y="4037698"/>
            <a:ext cx="1608900" cy="1640899"/>
          </a:xfrm>
          <a:prstGeom prst="can">
            <a:avLst>
              <a:gd name="adj" fmla="val 12310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DB</a:t>
            </a:r>
            <a:r>
              <a:rPr kumimoji="1" lang="ja-JP" altLang="en-US"/>
              <a:t>コンテナ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6A929A-EE8B-1431-9F8B-750C4F527736}"/>
              </a:ext>
            </a:extLst>
          </p:cNvPr>
          <p:cNvSpPr txBox="1"/>
          <p:nvPr/>
        </p:nvSpPr>
        <p:spPr>
          <a:xfrm>
            <a:off x="593129" y="1414561"/>
            <a:ext cx="50690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① </a:t>
            </a:r>
            <a:r>
              <a:rPr kumimoji="1" lang="ja-JP" altLang="en-US" b="1"/>
              <a:t>コンテナ起動</a:t>
            </a:r>
          </a:p>
          <a:p>
            <a:pPr>
              <a:lnSpc>
                <a:spcPct val="150000"/>
              </a:lnSpc>
            </a:pPr>
            <a:r>
              <a:rPr kumimoji="1" lang="ja-JP" altLang="en-US"/>
              <a:t>コマンド：</a:t>
            </a:r>
            <a:r>
              <a:rPr kumimoji="1" lang="en" altLang="ja-JP" dirty="0"/>
              <a:t>docker compose up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② </a:t>
            </a:r>
            <a:r>
              <a:rPr kumimoji="1" lang="ja-JP" altLang="en-US" b="1"/>
              <a:t>データベースの準備</a:t>
            </a:r>
          </a:p>
          <a:p>
            <a:r>
              <a:rPr lang="en" altLang="ja-JP" dirty="0"/>
              <a:t>DB</a:t>
            </a:r>
            <a:r>
              <a:rPr kumimoji="1" lang="ja-JP" altLang="en-US"/>
              <a:t>コンテナ（</a:t>
            </a:r>
            <a:r>
              <a:rPr kumimoji="1" lang="en" altLang="ja-JP" dirty="0"/>
              <a:t>MySQL</a:t>
            </a:r>
            <a:r>
              <a:rPr kumimoji="1" lang="ja-JP" altLang="en"/>
              <a:t>）</a:t>
            </a:r>
            <a:r>
              <a:rPr kumimoji="1" lang="ja-JP" altLang="en-US"/>
              <a:t>が起動し、</a:t>
            </a:r>
            <a:endParaRPr kumimoji="1" lang="en-US" altLang="ja-JP" dirty="0"/>
          </a:p>
          <a:p>
            <a:r>
              <a:rPr kumimoji="1" lang="en" altLang="ja-JP" dirty="0"/>
              <a:t>SQL</a:t>
            </a:r>
            <a:r>
              <a:rPr kumimoji="1" lang="ja-JP" altLang="en-US"/>
              <a:t>ファイルからゴミの品目や</a:t>
            </a:r>
            <a:endParaRPr kumimoji="1" lang="en-US" altLang="ja-JP" dirty="0"/>
          </a:p>
          <a:p>
            <a:r>
              <a:rPr kumimoji="1" lang="ja-JP" altLang="en-US"/>
              <a:t>回収場所のデータを読み込む。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③ </a:t>
            </a:r>
            <a:r>
              <a:rPr kumimoji="1" lang="ja-JP" altLang="en-US" b="1"/>
              <a:t>アプリの起動</a:t>
            </a:r>
          </a:p>
          <a:p>
            <a:r>
              <a:rPr lang="en" altLang="ja-JP" dirty="0"/>
              <a:t>W</a:t>
            </a:r>
            <a:r>
              <a:rPr kumimoji="1" lang="en" altLang="ja-JP" dirty="0"/>
              <a:t>eb</a:t>
            </a:r>
            <a:r>
              <a:rPr kumimoji="1" lang="ja-JP" altLang="en-US"/>
              <a:t>コンテナ内で</a:t>
            </a:r>
            <a:r>
              <a:rPr kumimoji="1" lang="en" altLang="ja-JP" dirty="0" err="1"/>
              <a:t>app.js</a:t>
            </a:r>
            <a:r>
              <a:rPr kumimoji="1" lang="ja-JP" altLang="en-US"/>
              <a:t>が実行され、</a:t>
            </a:r>
            <a:endParaRPr kumimoji="1" lang="en-US" altLang="ja-JP" dirty="0"/>
          </a:p>
          <a:p>
            <a:r>
              <a:rPr kumimoji="1" lang="en" altLang="ja-JP" dirty="0"/>
              <a:t>Node.js</a:t>
            </a:r>
            <a:r>
              <a:rPr kumimoji="1" lang="ja-JP" altLang="en"/>
              <a:t>（</a:t>
            </a:r>
            <a:r>
              <a:rPr kumimoji="1" lang="en" altLang="ja-JP" dirty="0"/>
              <a:t>Express</a:t>
            </a:r>
            <a:r>
              <a:rPr kumimoji="1" lang="ja-JP" altLang="en"/>
              <a:t>）</a:t>
            </a:r>
            <a:r>
              <a:rPr kumimoji="1" lang="ja-JP" altLang="en-US"/>
              <a:t>の</a:t>
            </a:r>
            <a:r>
              <a:rPr kumimoji="1" lang="en" altLang="ja-JP" dirty="0"/>
              <a:t>Web</a:t>
            </a:r>
            <a:r>
              <a:rPr kumimoji="1" lang="ja-JP" altLang="en-US"/>
              <a:t>サーバーが</a:t>
            </a:r>
            <a:endParaRPr kumimoji="1" lang="en-US" altLang="ja-JP" dirty="0"/>
          </a:p>
          <a:p>
            <a:r>
              <a:rPr kumimoji="1" lang="ja-JP" altLang="en-US"/>
              <a:t>立ち上がる。このサーバーが</a:t>
            </a:r>
            <a:endParaRPr kumimoji="1" lang="en-US" altLang="ja-JP" dirty="0"/>
          </a:p>
          <a:p>
            <a:r>
              <a:rPr kumimoji="1" lang="en" altLang="ja-JP" dirty="0"/>
              <a:t>DB</a:t>
            </a:r>
            <a:r>
              <a:rPr kumimoji="1" lang="ja-JP" altLang="en-US"/>
              <a:t>コンテナと通信し、検索結果を処理する。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④ </a:t>
            </a:r>
            <a:r>
              <a:rPr lang="ja-JP" altLang="en-US" b="1"/>
              <a:t>アプリの</a:t>
            </a:r>
            <a:r>
              <a:rPr kumimoji="1" lang="ja-JP" altLang="en-US" b="1"/>
              <a:t>閲覧</a:t>
            </a:r>
          </a:p>
          <a:p>
            <a:r>
              <a:rPr lang="ja-JP" altLang="en-US"/>
              <a:t>「</a:t>
            </a:r>
            <a:r>
              <a:rPr kumimoji="1" lang="en" altLang="ja-JP" dirty="0">
                <a:hlinkClick r:id="rId2"/>
              </a:rPr>
              <a:t>http://localhost:3000</a:t>
            </a:r>
            <a:r>
              <a:rPr lang="ja-JP" altLang="en-US"/>
              <a:t>」</a:t>
            </a:r>
            <a:r>
              <a:rPr kumimoji="1" lang="ja-JP" altLang="en-US"/>
              <a:t>にアクセスする。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F7105F0-3635-D534-BB9A-EFE2D0A0297A}"/>
              </a:ext>
            </a:extLst>
          </p:cNvPr>
          <p:cNvCxnSpPr>
            <a:cxnSpLocks/>
          </p:cNvCxnSpPr>
          <p:nvPr/>
        </p:nvCxnSpPr>
        <p:spPr>
          <a:xfrm flipH="1">
            <a:off x="6592593" y="2637896"/>
            <a:ext cx="150340" cy="1306504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B2325FDF-E5DD-2C73-0342-D20A62728D33}"/>
              </a:ext>
            </a:extLst>
          </p:cNvPr>
          <p:cNvCxnSpPr>
            <a:cxnSpLocks/>
          </p:cNvCxnSpPr>
          <p:nvPr/>
        </p:nvCxnSpPr>
        <p:spPr>
          <a:xfrm>
            <a:off x="7085518" y="2637896"/>
            <a:ext cx="2623724" cy="1300448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図 40" descr="Terminal | macOS Icon Gallery">
            <a:extLst>
              <a:ext uri="{FF2B5EF4-FFF2-40B4-BE49-F238E27FC236}">
                <a16:creationId xmlns:a16="http://schemas.microsoft.com/office/drawing/2014/main" id="{79ED4038-B983-4271-BD57-3AF3635C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38" y="1734344"/>
            <a:ext cx="760617" cy="760617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376083B-3FF8-3906-AA68-B2E09276F1FD}"/>
              </a:ext>
            </a:extLst>
          </p:cNvPr>
          <p:cNvSpPr txBox="1"/>
          <p:nvPr/>
        </p:nvSpPr>
        <p:spPr>
          <a:xfrm>
            <a:off x="6253733" y="141456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ターミナル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0DDABCF-97D1-F3F0-FE17-6CC3E57A80AC}"/>
              </a:ext>
            </a:extLst>
          </p:cNvPr>
          <p:cNvSpPr txBox="1"/>
          <p:nvPr/>
        </p:nvSpPr>
        <p:spPr>
          <a:xfrm>
            <a:off x="6771621" y="273725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①</a:t>
            </a:r>
            <a:endParaRPr kumimoji="1" lang="ja-JP" altLang="en-US" sz="2000" b="1"/>
          </a:p>
        </p:txBody>
      </p:sp>
      <p:pic>
        <p:nvPicPr>
          <p:cNvPr id="52" name="グラフィックス 51" descr="Google Chrome ロゴ。">
            <a:extLst>
              <a:ext uri="{FF2B5EF4-FFF2-40B4-BE49-F238E27FC236}">
                <a16:creationId xmlns:a16="http://schemas.microsoft.com/office/drawing/2014/main" id="{E7E6712F-F06B-4571-D0C8-C8FFD14E9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352" y="1805965"/>
            <a:ext cx="617374" cy="617374"/>
          </a:xfrm>
          <a:prstGeom prst="rect">
            <a:avLst/>
          </a:prstGeom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50D672B-1765-9D4A-A541-08C9BC6ED223}"/>
              </a:ext>
            </a:extLst>
          </p:cNvPr>
          <p:cNvSpPr txBox="1"/>
          <p:nvPr/>
        </p:nvSpPr>
        <p:spPr>
          <a:xfrm>
            <a:off x="10076041" y="14145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ブラウザ</a:t>
            </a: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EED647A6-968A-D547-86C1-99A3BDCF065E}"/>
              </a:ext>
            </a:extLst>
          </p:cNvPr>
          <p:cNvCxnSpPr>
            <a:cxnSpLocks/>
          </p:cNvCxnSpPr>
          <p:nvPr/>
        </p:nvCxnSpPr>
        <p:spPr>
          <a:xfrm flipH="1">
            <a:off x="7583597" y="4984220"/>
            <a:ext cx="2125645" cy="0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3A668C38-96B1-108A-9AC7-94095E7BE4B6}"/>
              </a:ext>
            </a:extLst>
          </p:cNvPr>
          <p:cNvCxnSpPr>
            <a:cxnSpLocks/>
          </p:cNvCxnSpPr>
          <p:nvPr/>
        </p:nvCxnSpPr>
        <p:spPr>
          <a:xfrm>
            <a:off x="10629134" y="2637896"/>
            <a:ext cx="0" cy="1300448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8229F85-87ED-398A-06FB-8B0C1B07C11A}"/>
              </a:ext>
            </a:extLst>
          </p:cNvPr>
          <p:cNvSpPr txBox="1"/>
          <p:nvPr/>
        </p:nvSpPr>
        <p:spPr>
          <a:xfrm>
            <a:off x="5662145" y="575153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②</a:t>
            </a:r>
            <a:r>
              <a:rPr lang="ja-JP" altLang="en-US"/>
              <a:t>データ読み込み</a:t>
            </a:r>
            <a:endParaRPr kumimoji="1" lang="ja-JP" altLang="en-US" b="1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13976DC-354E-9ADF-A844-729A4743A4AF}"/>
              </a:ext>
            </a:extLst>
          </p:cNvPr>
          <p:cNvSpPr txBox="1"/>
          <p:nvPr/>
        </p:nvSpPr>
        <p:spPr>
          <a:xfrm>
            <a:off x="7857303" y="44888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③</a:t>
            </a:r>
            <a:r>
              <a:rPr lang="ja-JP" altLang="en-US"/>
              <a:t>データ検索</a:t>
            </a:r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B6949D6-3F13-2F1A-B001-FABDD97FBE30}"/>
              </a:ext>
            </a:extLst>
          </p:cNvPr>
          <p:cNvSpPr txBox="1"/>
          <p:nvPr/>
        </p:nvSpPr>
        <p:spPr>
          <a:xfrm>
            <a:off x="10143097" y="2710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④</a:t>
            </a:r>
            <a:endParaRPr kumimoji="1" lang="ja-JP" altLang="en-US" sz="2000" b="1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E56A8713-CC5F-C8D1-4846-D1639EFD6055}"/>
              </a:ext>
            </a:extLst>
          </p:cNvPr>
          <p:cNvSpPr txBox="1"/>
          <p:nvPr/>
        </p:nvSpPr>
        <p:spPr>
          <a:xfrm>
            <a:off x="7733070" y="6363562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コンテナの概要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9548A675-7246-D1AF-B20E-9F82FDE6A8FD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9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CF0B-176E-2247-097F-966F40D4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7CC32-DF06-0019-F2F6-F7407AAD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3. </a:t>
            </a:r>
            <a:r>
              <a:rPr kumimoji="1" lang="ja-JP" altLang="en-US" sz="3200" b="1"/>
              <a:t>コンテナの実行手順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86ACB7-4AAD-18E9-7A72-7FCF9001EAD8}"/>
              </a:ext>
            </a:extLst>
          </p:cNvPr>
          <p:cNvSpPr txBox="1"/>
          <p:nvPr/>
        </p:nvSpPr>
        <p:spPr>
          <a:xfrm>
            <a:off x="512580" y="1844382"/>
            <a:ext cx="111668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ja-JP" altLang="ja-JP"/>
              <a:t>ターミナルを開き、コマンド</a:t>
            </a:r>
            <a:r>
              <a:rPr lang="ja-JP" altLang="en-US"/>
              <a:t>「</a:t>
            </a:r>
            <a:r>
              <a:rPr lang="ja-JP" altLang="ja-JP"/>
              <a:t>docker compose up</a:t>
            </a:r>
            <a:r>
              <a:rPr lang="ja-JP" altLang="en-US"/>
              <a:t>」</a:t>
            </a:r>
            <a:r>
              <a:rPr lang="ja-JP" altLang="ja-JP"/>
              <a:t>を実行する。</a:t>
            </a:r>
            <a:br>
              <a:rPr lang="en-US" altLang="ja-JP" dirty="0"/>
            </a:br>
            <a:endParaRPr lang="ja-JP" altLang="ja-JP"/>
          </a:p>
          <a:p>
            <a:pPr marL="342900" indent="-342900">
              <a:buFont typeface="+mj-lt"/>
              <a:buAutoNum type="arabicPeriod"/>
            </a:pPr>
            <a:r>
              <a:rPr lang="ja-JP" altLang="ja-JP"/>
              <a:t>コンテナが起動し、ログに</a:t>
            </a:r>
            <a:r>
              <a:rPr lang="ja-JP" altLang="en-US"/>
              <a:t>「</a:t>
            </a:r>
            <a:r>
              <a:rPr lang="ja-JP" altLang="ja-JP"/>
              <a:t>Server is running at http://localhost:3000</a:t>
            </a:r>
            <a:r>
              <a:rPr lang="ja-JP" altLang="en-US"/>
              <a:t>」</a:t>
            </a:r>
            <a:r>
              <a:rPr lang="ja-JP" altLang="ja-JP"/>
              <a:t>と表示されるのを確認する。</a:t>
            </a:r>
            <a:br>
              <a:rPr lang="en-US" altLang="ja-JP" dirty="0"/>
            </a:br>
            <a:endParaRPr lang="en-US" altLang="ja-JP" dirty="0"/>
          </a:p>
          <a:p>
            <a:pPr marL="342900" lvl="0" indent="-342900">
              <a:buFont typeface="+mj-lt"/>
              <a:buAutoNum type="arabicPeriod"/>
            </a:pPr>
            <a:r>
              <a:rPr lang="ja-JP" altLang="ja-JP"/>
              <a:t>ブラウザを開き、</a:t>
            </a:r>
            <a:r>
              <a:rPr lang="ja-JP" altLang="en-US"/>
              <a:t>「</a:t>
            </a:r>
            <a:r>
              <a:rPr lang="ja-JP" altLang="ja-JP">
                <a:hlinkClick r:id="rId2"/>
              </a:rPr>
              <a:t>http://localhost:3000</a:t>
            </a:r>
            <a:r>
              <a:rPr lang="ja-JP" altLang="en-US"/>
              <a:t>」</a:t>
            </a:r>
            <a:r>
              <a:rPr lang="ja-JP" altLang="ja-JP"/>
              <a:t>にアクセスする。</a:t>
            </a:r>
            <a:endParaRPr lang="en-US" altLang="ja-JP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F116628-9130-A693-6684-886A38197625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04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3202-BE38-2697-B823-04192655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84FCA-620C-160C-6C57-590359FB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lang="en-US" altLang="ja-JP" sz="3200" b="1" dirty="0"/>
              <a:t>4</a:t>
            </a:r>
            <a:r>
              <a:rPr kumimoji="1" lang="en-US" altLang="ja-JP" sz="3200" b="1" dirty="0"/>
              <a:t>. </a:t>
            </a:r>
            <a:r>
              <a:rPr kumimoji="1" lang="ja-JP" altLang="en-US" sz="3200" b="1"/>
              <a:t>コンテナの実行結果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67C5DD7-880A-52C2-B2B4-BD40867A9235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8CFD09-E532-1322-8A7C-808A250E9F0D}"/>
              </a:ext>
            </a:extLst>
          </p:cNvPr>
          <p:cNvSpPr txBox="1"/>
          <p:nvPr/>
        </p:nvSpPr>
        <p:spPr>
          <a:xfrm>
            <a:off x="1614827" y="6338985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4-1. </a:t>
            </a:r>
            <a:r>
              <a:rPr kumimoji="1" lang="ja-JP" altLang="en-US" sz="1400"/>
              <a:t>初期検索画面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61291E-BD57-3A85-004F-A1E81CEED793}"/>
              </a:ext>
            </a:extLst>
          </p:cNvPr>
          <p:cNvSpPr txBox="1"/>
          <p:nvPr/>
        </p:nvSpPr>
        <p:spPr>
          <a:xfrm>
            <a:off x="4606032" y="6338984"/>
            <a:ext cx="3073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lang="ja-JP" altLang="en-US" sz="1400"/>
              <a:t>「モバイル」と検索した場合</a:t>
            </a:r>
            <a:endParaRPr kumimoji="1" lang="ja-JP" altLang="en-US" sz="1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DA5386-41F5-0B70-A277-68B3811A4C01}"/>
              </a:ext>
            </a:extLst>
          </p:cNvPr>
          <p:cNvSpPr txBox="1"/>
          <p:nvPr/>
        </p:nvSpPr>
        <p:spPr>
          <a:xfrm>
            <a:off x="9201222" y="6338984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lang="ja-JP" altLang="en-US" sz="1400"/>
              <a:t>詳細画面</a:t>
            </a:r>
            <a:endParaRPr kumimoji="1" lang="ja-JP" altLang="en-US" sz="140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4E20360-7AF4-7CD0-8E6A-23C72479B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64" y="1208749"/>
            <a:ext cx="2593557" cy="507458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25F3DA3-2BD3-22AD-DBBE-22ABB0938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287" y="1231365"/>
            <a:ext cx="2527855" cy="499753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1A048E9-35C9-508D-CF20-85CD232D8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405" y="1213304"/>
            <a:ext cx="2593558" cy="513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356</Words>
  <Application>Microsoft Macintosh PowerPoint</Application>
  <PresentationFormat>ワイド画面</PresentationFormat>
  <Paragraphs>49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サービスの概要</vt:lpstr>
      <vt:lpstr>1. サービスの目的</vt:lpstr>
      <vt:lpstr>2. コンテナの概要</vt:lpstr>
      <vt:lpstr>3. コンテナの実行手順</vt:lpstr>
      <vt:lpstr>4. コンテナの実行結果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薄井　悠希</dc:creator>
  <cp:lastModifiedBy>大久保　壮葵</cp:lastModifiedBy>
  <cp:revision>3</cp:revision>
  <dcterms:created xsi:type="dcterms:W3CDTF">2026-09-09T12:19:36Z</dcterms:created>
  <dcterms:modified xsi:type="dcterms:W3CDTF">2026-09-10T12:05:14Z</dcterms:modified>
</cp:coreProperties>
</file>